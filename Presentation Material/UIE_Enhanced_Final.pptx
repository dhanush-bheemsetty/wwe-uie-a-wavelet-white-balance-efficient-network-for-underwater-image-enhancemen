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1A3557"/>
          </a:solidFill>
          <a:ln w="12700">
            <a:solidFill>
              <a:srgbClr val="1A3557"/>
            </a:solidFill>
            <a:prstDash val="solid"/>
          </a:ln>
        </p:spPr>
      </p:sp>
      <p:sp>
        <p:nvSpPr>
          <p:cNvPr id="3" name="Shape 1"/>
          <p:cNvSpPr/>
          <p:nvPr/>
        </p:nvSpPr>
        <p:spPr>
          <a:xfrm>
            <a:off x="0" y="0"/>
            <a:ext cx="164592" cy="5143500"/>
          </a:xfrm>
          <a:prstGeom prst="rect">
            <a:avLst/>
          </a:prstGeom>
          <a:solidFill>
            <a:srgbClr val="0D7A6E"/>
          </a:solidFill>
          <a:ln w="12700">
            <a:solidFill>
              <a:srgbClr val="0D7A6E"/>
            </a:solidFill>
            <a:prstDash val="solid"/>
          </a:ln>
        </p:spPr>
      </p:sp>
      <p:sp>
        <p:nvSpPr>
          <p:cNvPr id="4" name="Text 2"/>
          <p:cNvSpPr/>
          <p:nvPr/>
        </p:nvSpPr>
        <p:spPr>
          <a:xfrm>
            <a:off x="320040" y="457200"/>
            <a:ext cx="3337560" cy="777240"/>
          </a:xfrm>
          <a:prstGeom prst="rect">
            <a:avLst/>
          </a:prstGeom>
          <a:noFill/>
          <a:ln/>
        </p:spPr>
        <p:txBody>
          <a:bodyPr wrap="square" lIns="0" tIns="0" rIns="0" bIns="0" rtlCol="0" anchor="ctr"/>
          <a:lstStyle/>
          <a:p>
            <a:pPr indent="0" marL="0">
              <a:buNone/>
            </a:pPr>
            <a:r>
              <a:rPr lang="en-US" sz="900" b="1" spc="300" kern="0" dirty="0">
                <a:solidFill>
                  <a:srgbClr val="7BAFC8"/>
                </a:solidFill>
              </a:rPr>
              <a:t>PROJECT</a:t>
            </a:r>
            <a:endParaRPr lang="en-US" sz="900" dirty="0"/>
          </a:p>
          <a:p>
            <a:pPr indent="0" marL="0">
              <a:buNone/>
            </a:pPr>
            <a:r>
              <a:rPr lang="en-US" sz="900" b="1" spc="300" kern="0" dirty="0">
                <a:solidFill>
                  <a:srgbClr val="7BAFC8"/>
                </a:solidFill>
              </a:rPr>
              <a:t>PRESENTATION</a:t>
            </a:r>
            <a:endParaRPr lang="en-US" sz="900" dirty="0"/>
          </a:p>
        </p:txBody>
      </p:sp>
      <p:sp>
        <p:nvSpPr>
          <p:cNvPr id="5" name="Text 3"/>
          <p:cNvSpPr/>
          <p:nvPr/>
        </p:nvSpPr>
        <p:spPr>
          <a:xfrm>
            <a:off x="320040" y="1234440"/>
            <a:ext cx="3337560" cy="2286000"/>
          </a:xfrm>
          <a:prstGeom prst="rect">
            <a:avLst/>
          </a:prstGeom>
          <a:noFill/>
          <a:ln/>
        </p:spPr>
        <p:txBody>
          <a:bodyPr wrap="square" lIns="0" tIns="0" rIns="0" bIns="0" rtlCol="0" anchor="t"/>
          <a:lstStyle/>
          <a:p>
            <a:pPr indent="0" marL="0">
              <a:buNone/>
            </a:pPr>
            <a:r>
              <a:rPr lang="en-US" sz="3400" b="1" dirty="0">
                <a:solidFill>
                  <a:srgbClr val="FFFFFF"/>
                </a:solidFill>
              </a:rPr>
              <a:t>Enhancing
</a:t>
            </a:r>
            <a:pPr indent="0" marL="0">
              <a:buNone/>
            </a:pPr>
            <a:r>
              <a:rPr lang="en-US" sz="3400" b="1" dirty="0">
                <a:solidFill>
                  <a:srgbClr val="FFFFFF"/>
                </a:solidFill>
              </a:rPr>
              <a:t>Underwater
</a:t>
            </a:r>
            <a:pPr indent="0" marL="0">
              <a:buNone/>
            </a:pPr>
            <a:r>
              <a:rPr lang="en-US" sz="3400" b="1" dirty="0">
                <a:solidFill>
                  <a:srgbClr val="4DD0C4"/>
                </a:solidFill>
              </a:rPr>
              <a:t>Imagery</a:t>
            </a:r>
            <a:endParaRPr lang="en-US" sz="3400" dirty="0"/>
          </a:p>
        </p:txBody>
      </p:sp>
      <p:sp>
        <p:nvSpPr>
          <p:cNvPr id="6" name="Text 4"/>
          <p:cNvSpPr/>
          <p:nvPr/>
        </p:nvSpPr>
        <p:spPr>
          <a:xfrm>
            <a:off x="320040" y="3291840"/>
            <a:ext cx="3337560" cy="868680"/>
          </a:xfrm>
          <a:prstGeom prst="rect">
            <a:avLst/>
          </a:prstGeom>
          <a:noFill/>
          <a:ln/>
        </p:spPr>
        <p:txBody>
          <a:bodyPr wrap="square" lIns="0" tIns="0" rIns="0" bIns="0" rtlCol="0" anchor="ctr"/>
          <a:lstStyle/>
          <a:p>
            <a:pPr indent="0" marL="0">
              <a:buNone/>
            </a:pPr>
            <a:r>
              <a:rPr lang="en-US" sz="1600" dirty="0">
                <a:solidFill>
                  <a:srgbClr val="ADBDD0"/>
                </a:solidFill>
              </a:rPr>
              <a:t>through Advanced</a:t>
            </a:r>
            <a:endParaRPr lang="en-US" sz="1600" dirty="0"/>
          </a:p>
          <a:p>
            <a:pPr indent="0" marL="0">
              <a:buNone/>
            </a:pPr>
            <a:r>
              <a:rPr lang="en-US" sz="1600" dirty="0">
                <a:solidFill>
                  <a:srgbClr val="ADBDD0"/>
                </a:solidFill>
              </a:rPr>
              <a:t>Deep Learning</a:t>
            </a:r>
            <a:endParaRPr lang="en-US" sz="1600" dirty="0"/>
          </a:p>
        </p:txBody>
      </p:sp>
      <p:sp>
        <p:nvSpPr>
          <p:cNvPr id="7" name="Shape 5"/>
          <p:cNvSpPr/>
          <p:nvPr/>
        </p:nvSpPr>
        <p:spPr>
          <a:xfrm>
            <a:off x="320040" y="4251960"/>
            <a:ext cx="3154680" cy="0"/>
          </a:xfrm>
          <a:prstGeom prst="line">
            <a:avLst/>
          </a:prstGeom>
          <a:noFill/>
          <a:ln w="12700">
            <a:solidFill>
              <a:srgbClr val="0D7A6E"/>
            </a:solidFill>
            <a:prstDash val="solid"/>
          </a:ln>
        </p:spPr>
      </p:sp>
      <p:sp>
        <p:nvSpPr>
          <p:cNvPr id="8" name="Text 6"/>
          <p:cNvSpPr/>
          <p:nvPr/>
        </p:nvSpPr>
        <p:spPr>
          <a:xfrm>
            <a:off x="320040" y="4343400"/>
            <a:ext cx="3337560" cy="274320"/>
          </a:xfrm>
          <a:prstGeom prst="rect">
            <a:avLst/>
          </a:prstGeom>
          <a:noFill/>
          <a:ln/>
        </p:spPr>
        <p:txBody>
          <a:bodyPr wrap="square" lIns="0" tIns="0" rIns="0" bIns="0" rtlCol="0" anchor="ctr"/>
          <a:lstStyle/>
          <a:p>
            <a:pPr indent="0" marL="0">
              <a:buNone/>
            </a:pPr>
            <a:r>
              <a:rPr lang="en-US" sz="900" i="1" dirty="0">
                <a:solidFill>
                  <a:srgbClr val="7BAFC8"/>
                </a:solidFill>
              </a:rPr>
              <a:t>WWE-UIE Architecture — Enhanced v2</a:t>
            </a:r>
            <a:endParaRPr lang="en-US" sz="900" dirty="0"/>
          </a:p>
        </p:txBody>
      </p:sp>
      <p:sp>
        <p:nvSpPr>
          <p:cNvPr id="9" name="Text 7"/>
          <p:cNvSpPr/>
          <p:nvPr/>
        </p:nvSpPr>
        <p:spPr>
          <a:xfrm>
            <a:off x="4114800" y="457200"/>
            <a:ext cx="4754880" cy="347472"/>
          </a:xfrm>
          <a:prstGeom prst="rect">
            <a:avLst/>
          </a:prstGeom>
          <a:noFill/>
          <a:ln/>
        </p:spPr>
        <p:txBody>
          <a:bodyPr wrap="square" lIns="0" tIns="0" rIns="0" bIns="0" rtlCol="0" anchor="ctr"/>
          <a:lstStyle/>
          <a:p>
            <a:pPr indent="0" marL="0">
              <a:buNone/>
            </a:pPr>
            <a:r>
              <a:rPr lang="en-US" sz="1100" i="1" dirty="0">
                <a:solidFill>
                  <a:srgbClr val="6B7280"/>
                </a:solidFill>
              </a:rPr>
              <a:t>Presented By</a:t>
            </a:r>
            <a:endParaRPr lang="en-US" sz="1100" dirty="0"/>
          </a:p>
        </p:txBody>
      </p:sp>
      <p:sp>
        <p:nvSpPr>
          <p:cNvPr id="10" name="Shape 8"/>
          <p:cNvSpPr/>
          <p:nvPr/>
        </p:nvSpPr>
        <p:spPr>
          <a:xfrm>
            <a:off x="4114800" y="914400"/>
            <a:ext cx="4754880" cy="621792"/>
          </a:xfrm>
          <a:prstGeom prst="rect">
            <a:avLst/>
          </a:prstGeom>
          <a:solidFill>
            <a:srgbClr val="F3F4F6"/>
          </a:solidFill>
          <a:ln w="6350">
            <a:solidFill>
              <a:srgbClr val="D1D5DB"/>
            </a:solidFill>
            <a:prstDash val="solid"/>
          </a:ln>
        </p:spPr>
      </p:sp>
      <p:sp>
        <p:nvSpPr>
          <p:cNvPr id="11" name="Text 9"/>
          <p:cNvSpPr/>
          <p:nvPr/>
        </p:nvSpPr>
        <p:spPr>
          <a:xfrm>
            <a:off x="4251960" y="960120"/>
            <a:ext cx="2011680" cy="256032"/>
          </a:xfrm>
          <a:prstGeom prst="rect">
            <a:avLst/>
          </a:prstGeom>
          <a:noFill/>
          <a:ln/>
        </p:spPr>
        <p:txBody>
          <a:bodyPr wrap="square" lIns="0" tIns="0" rIns="0" bIns="0" rtlCol="0" anchor="ctr"/>
          <a:lstStyle/>
          <a:p>
            <a:pPr indent="0" marL="0">
              <a:buNone/>
            </a:pPr>
            <a:r>
              <a:rPr lang="en-US" sz="850" dirty="0">
                <a:solidFill>
                  <a:srgbClr val="6B7280"/>
                </a:solidFill>
              </a:rPr>
              <a:t>Student Name</a:t>
            </a:r>
            <a:endParaRPr lang="en-US" sz="850" dirty="0"/>
          </a:p>
        </p:txBody>
      </p:sp>
      <p:sp>
        <p:nvSpPr>
          <p:cNvPr id="12" name="Text 10"/>
          <p:cNvSpPr/>
          <p:nvPr/>
        </p:nvSpPr>
        <p:spPr>
          <a:xfrm>
            <a:off x="4251960" y="1207008"/>
            <a:ext cx="4389120" cy="274320"/>
          </a:xfrm>
          <a:prstGeom prst="rect">
            <a:avLst/>
          </a:prstGeom>
          <a:noFill/>
          <a:ln/>
        </p:spPr>
        <p:txBody>
          <a:bodyPr wrap="square" lIns="0" tIns="0" rIns="0" bIns="0" rtlCol="0" anchor="ctr"/>
          <a:lstStyle/>
          <a:p>
            <a:pPr indent="0" marL="0">
              <a:buNone/>
            </a:pPr>
            <a:r>
              <a:rPr lang="en-US" sz="1300" b="1" dirty="0">
                <a:solidFill>
                  <a:srgbClr val="1A3557"/>
                </a:solidFill>
              </a:rPr>
              <a:t>B.Dhanush</a:t>
            </a:r>
            <a:endParaRPr lang="en-US" sz="1300" dirty="0"/>
          </a:p>
        </p:txBody>
      </p:sp>
      <p:sp>
        <p:nvSpPr>
          <p:cNvPr id="13" name="Shape 11"/>
          <p:cNvSpPr/>
          <p:nvPr/>
        </p:nvSpPr>
        <p:spPr>
          <a:xfrm>
            <a:off x="4114800" y="1664208"/>
            <a:ext cx="4754880" cy="621792"/>
          </a:xfrm>
          <a:prstGeom prst="rect">
            <a:avLst/>
          </a:prstGeom>
          <a:solidFill>
            <a:srgbClr val="FFFFFF"/>
          </a:solidFill>
          <a:ln w="6350">
            <a:solidFill>
              <a:srgbClr val="D1D5DB"/>
            </a:solidFill>
            <a:prstDash val="solid"/>
          </a:ln>
        </p:spPr>
      </p:sp>
      <p:sp>
        <p:nvSpPr>
          <p:cNvPr id="14" name="Text 12"/>
          <p:cNvSpPr/>
          <p:nvPr/>
        </p:nvSpPr>
        <p:spPr>
          <a:xfrm>
            <a:off x="4251960" y="1709928"/>
            <a:ext cx="2011680" cy="256032"/>
          </a:xfrm>
          <a:prstGeom prst="rect">
            <a:avLst/>
          </a:prstGeom>
          <a:noFill/>
          <a:ln/>
        </p:spPr>
        <p:txBody>
          <a:bodyPr wrap="square" lIns="0" tIns="0" rIns="0" bIns="0" rtlCol="0" anchor="ctr"/>
          <a:lstStyle/>
          <a:p>
            <a:pPr indent="0" marL="0">
              <a:buNone/>
            </a:pPr>
            <a:r>
              <a:rPr lang="en-US" sz="850" dirty="0">
                <a:solidFill>
                  <a:srgbClr val="6B7280"/>
                </a:solidFill>
              </a:rPr>
              <a:t>Registration No.</a:t>
            </a:r>
            <a:endParaRPr lang="en-US" sz="850" dirty="0"/>
          </a:p>
        </p:txBody>
      </p:sp>
      <p:sp>
        <p:nvSpPr>
          <p:cNvPr id="15" name="Text 13"/>
          <p:cNvSpPr/>
          <p:nvPr/>
        </p:nvSpPr>
        <p:spPr>
          <a:xfrm>
            <a:off x="4251960" y="1956816"/>
            <a:ext cx="4389120" cy="274320"/>
          </a:xfrm>
          <a:prstGeom prst="rect">
            <a:avLst/>
          </a:prstGeom>
          <a:noFill/>
          <a:ln/>
        </p:spPr>
        <p:txBody>
          <a:bodyPr wrap="square" lIns="0" tIns="0" rIns="0" bIns="0" rtlCol="0" anchor="ctr"/>
          <a:lstStyle/>
          <a:p>
            <a:pPr indent="0" marL="0">
              <a:buNone/>
            </a:pPr>
            <a:r>
              <a:rPr lang="en-US" sz="1300" b="1" dirty="0">
                <a:solidFill>
                  <a:srgbClr val="1A3557"/>
                </a:solidFill>
              </a:rPr>
              <a:t>23bce9640</a:t>
            </a:r>
            <a:endParaRPr lang="en-US" sz="1300" dirty="0"/>
          </a:p>
        </p:txBody>
      </p:sp>
      <p:sp>
        <p:nvSpPr>
          <p:cNvPr id="16" name="Shape 14"/>
          <p:cNvSpPr/>
          <p:nvPr/>
        </p:nvSpPr>
        <p:spPr>
          <a:xfrm>
            <a:off x="4114800" y="2414016"/>
            <a:ext cx="4754880" cy="621792"/>
          </a:xfrm>
          <a:prstGeom prst="rect">
            <a:avLst/>
          </a:prstGeom>
          <a:solidFill>
            <a:srgbClr val="F3F4F6"/>
          </a:solidFill>
          <a:ln w="6350">
            <a:solidFill>
              <a:srgbClr val="D1D5DB"/>
            </a:solidFill>
            <a:prstDash val="solid"/>
          </a:ln>
        </p:spPr>
      </p:sp>
      <p:sp>
        <p:nvSpPr>
          <p:cNvPr id="17" name="Text 15"/>
          <p:cNvSpPr/>
          <p:nvPr/>
        </p:nvSpPr>
        <p:spPr>
          <a:xfrm>
            <a:off x="4251960" y="2459736"/>
            <a:ext cx="2011680" cy="256032"/>
          </a:xfrm>
          <a:prstGeom prst="rect">
            <a:avLst/>
          </a:prstGeom>
          <a:noFill/>
          <a:ln/>
        </p:spPr>
        <p:txBody>
          <a:bodyPr wrap="square" lIns="0" tIns="0" rIns="0" bIns="0" rtlCol="0" anchor="ctr"/>
          <a:lstStyle/>
          <a:p>
            <a:pPr indent="0" marL="0">
              <a:buNone/>
            </a:pPr>
            <a:r>
              <a:rPr lang="en-US" sz="850" dirty="0">
                <a:solidFill>
                  <a:srgbClr val="6B7280"/>
                </a:solidFill>
              </a:rPr>
              <a:t>Slot</a:t>
            </a:r>
            <a:endParaRPr lang="en-US" sz="850" dirty="0"/>
          </a:p>
        </p:txBody>
      </p:sp>
      <p:sp>
        <p:nvSpPr>
          <p:cNvPr id="18" name="Text 16"/>
          <p:cNvSpPr/>
          <p:nvPr/>
        </p:nvSpPr>
        <p:spPr>
          <a:xfrm>
            <a:off x="4251960" y="2706624"/>
            <a:ext cx="4389120" cy="274320"/>
          </a:xfrm>
          <a:prstGeom prst="rect">
            <a:avLst/>
          </a:prstGeom>
          <a:noFill/>
          <a:ln/>
        </p:spPr>
        <p:txBody>
          <a:bodyPr wrap="square" lIns="0" tIns="0" rIns="0" bIns="0" rtlCol="0" anchor="ctr"/>
          <a:lstStyle/>
          <a:p>
            <a:pPr indent="0" marL="0">
              <a:buNone/>
            </a:pPr>
            <a:r>
              <a:rPr lang="en-US" sz="1300" b="1" dirty="0">
                <a:solidFill>
                  <a:srgbClr val="1A3557"/>
                </a:solidFill>
              </a:rPr>
              <a:t>B2</a:t>
            </a:r>
            <a:endParaRPr lang="en-US" sz="1300" dirty="0"/>
          </a:p>
        </p:txBody>
      </p:sp>
      <p:sp>
        <p:nvSpPr>
          <p:cNvPr id="19" name="Shape 17"/>
          <p:cNvSpPr/>
          <p:nvPr/>
        </p:nvSpPr>
        <p:spPr>
          <a:xfrm>
            <a:off x="4114800" y="3163824"/>
            <a:ext cx="4754880" cy="621792"/>
          </a:xfrm>
          <a:prstGeom prst="rect">
            <a:avLst/>
          </a:prstGeom>
          <a:solidFill>
            <a:srgbClr val="FFFFFF"/>
          </a:solidFill>
          <a:ln w="6350">
            <a:solidFill>
              <a:srgbClr val="D1D5DB"/>
            </a:solidFill>
            <a:prstDash val="solid"/>
          </a:ln>
        </p:spPr>
      </p:sp>
      <p:sp>
        <p:nvSpPr>
          <p:cNvPr id="20" name="Text 18"/>
          <p:cNvSpPr/>
          <p:nvPr/>
        </p:nvSpPr>
        <p:spPr>
          <a:xfrm>
            <a:off x="4251960" y="3209544"/>
            <a:ext cx="2011680" cy="256032"/>
          </a:xfrm>
          <a:prstGeom prst="rect">
            <a:avLst/>
          </a:prstGeom>
          <a:noFill/>
          <a:ln/>
        </p:spPr>
        <p:txBody>
          <a:bodyPr wrap="square" lIns="0" tIns="0" rIns="0" bIns="0" rtlCol="0" anchor="ctr"/>
          <a:lstStyle/>
          <a:p>
            <a:pPr indent="0" marL="0">
              <a:buNone/>
            </a:pPr>
            <a:r>
              <a:rPr lang="en-US" sz="850" dirty="0">
                <a:solidFill>
                  <a:srgbClr val="6B7280"/>
                </a:solidFill>
              </a:rPr>
              <a:t>Faculty Guide</a:t>
            </a:r>
            <a:endParaRPr lang="en-US" sz="850" dirty="0"/>
          </a:p>
        </p:txBody>
      </p:sp>
      <p:sp>
        <p:nvSpPr>
          <p:cNvPr id="21" name="Text 19"/>
          <p:cNvSpPr/>
          <p:nvPr/>
        </p:nvSpPr>
        <p:spPr>
          <a:xfrm>
            <a:off x="4251960" y="3456432"/>
            <a:ext cx="4389120" cy="274320"/>
          </a:xfrm>
          <a:prstGeom prst="rect">
            <a:avLst/>
          </a:prstGeom>
          <a:noFill/>
          <a:ln/>
        </p:spPr>
        <p:txBody>
          <a:bodyPr wrap="square" lIns="0" tIns="0" rIns="0" bIns="0" rtlCol="0" anchor="ctr"/>
          <a:lstStyle/>
          <a:p>
            <a:pPr indent="0" marL="0">
              <a:buNone/>
            </a:pPr>
            <a:r>
              <a:rPr lang="en-US" sz="1300" b="1" dirty="0">
                <a:solidFill>
                  <a:srgbClr val="1A3557"/>
                </a:solidFill>
              </a:rPr>
              <a:t>Prof. K. Srinivas</a:t>
            </a:r>
            <a:endParaRPr lang="en-US" sz="1300" dirty="0"/>
          </a:p>
        </p:txBody>
      </p:sp>
      <p:sp>
        <p:nvSpPr>
          <p:cNvPr id="22" name="Shape 20"/>
          <p:cNvSpPr/>
          <p:nvPr/>
        </p:nvSpPr>
        <p:spPr>
          <a:xfrm>
            <a:off x="4114800" y="3913632"/>
            <a:ext cx="4754880" cy="621792"/>
          </a:xfrm>
          <a:prstGeom prst="rect">
            <a:avLst/>
          </a:prstGeom>
          <a:solidFill>
            <a:srgbClr val="F3F4F6"/>
          </a:solidFill>
          <a:ln w="6350">
            <a:solidFill>
              <a:srgbClr val="D1D5DB"/>
            </a:solidFill>
            <a:prstDash val="solid"/>
          </a:ln>
        </p:spPr>
      </p:sp>
      <p:sp>
        <p:nvSpPr>
          <p:cNvPr id="23" name="Text 21"/>
          <p:cNvSpPr/>
          <p:nvPr/>
        </p:nvSpPr>
        <p:spPr>
          <a:xfrm>
            <a:off x="4251960" y="3959352"/>
            <a:ext cx="2011680" cy="256032"/>
          </a:xfrm>
          <a:prstGeom prst="rect">
            <a:avLst/>
          </a:prstGeom>
          <a:noFill/>
          <a:ln/>
        </p:spPr>
        <p:txBody>
          <a:bodyPr wrap="square" lIns="0" tIns="0" rIns="0" bIns="0" rtlCol="0" anchor="ctr"/>
          <a:lstStyle/>
          <a:p>
            <a:pPr indent="0" marL="0">
              <a:buNone/>
            </a:pPr>
            <a:r>
              <a:rPr lang="en-US" sz="850" dirty="0">
                <a:solidFill>
                  <a:srgbClr val="6B7280"/>
                </a:solidFill>
              </a:rPr>
              <a:t>Dataset</a:t>
            </a:r>
            <a:endParaRPr lang="en-US" sz="850" dirty="0"/>
          </a:p>
        </p:txBody>
      </p:sp>
      <p:sp>
        <p:nvSpPr>
          <p:cNvPr id="24" name="Text 22"/>
          <p:cNvSpPr/>
          <p:nvPr/>
        </p:nvSpPr>
        <p:spPr>
          <a:xfrm>
            <a:off x="4251960" y="4206240"/>
            <a:ext cx="4389120" cy="274320"/>
          </a:xfrm>
          <a:prstGeom prst="rect">
            <a:avLst/>
          </a:prstGeom>
          <a:noFill/>
          <a:ln/>
        </p:spPr>
        <p:txBody>
          <a:bodyPr wrap="square" lIns="0" tIns="0" rIns="0" bIns="0" rtlCol="0" anchor="ctr"/>
          <a:lstStyle/>
          <a:p>
            <a:pPr indent="0" marL="0">
              <a:buNone/>
            </a:pPr>
            <a:r>
              <a:rPr lang="en-US" sz="1300" b="1" dirty="0">
                <a:solidFill>
                  <a:srgbClr val="1A3557"/>
                </a:solidFill>
              </a:rPr>
              <a:t>UFO-120 Benchmark</a:t>
            </a:r>
            <a:endParaRPr lang="en-US" sz="1300" dirty="0"/>
          </a:p>
        </p:txBody>
      </p:sp>
      <p:sp>
        <p:nvSpPr>
          <p:cNvPr id="25" name="Shape 23"/>
          <p:cNvSpPr/>
          <p:nvPr/>
        </p:nvSpPr>
        <p:spPr>
          <a:xfrm>
            <a:off x="3840480" y="4846320"/>
            <a:ext cx="5303520" cy="297180"/>
          </a:xfrm>
          <a:prstGeom prst="rect">
            <a:avLst/>
          </a:prstGeom>
          <a:solidFill>
            <a:srgbClr val="E6F4F2"/>
          </a:solidFill>
          <a:ln w="12700">
            <a:solidFill>
              <a:srgbClr val="E6F4F2"/>
            </a:solidFill>
            <a:prstDash val="solid"/>
          </a:ln>
        </p:spPr>
      </p:sp>
      <p:sp>
        <p:nvSpPr>
          <p:cNvPr id="26" name="Text 24"/>
          <p:cNvSpPr/>
          <p:nvPr/>
        </p:nvSpPr>
        <p:spPr>
          <a:xfrm>
            <a:off x="3931920" y="4864608"/>
            <a:ext cx="5120640" cy="256032"/>
          </a:xfrm>
          <a:prstGeom prst="rect">
            <a:avLst/>
          </a:prstGeom>
          <a:noFill/>
          <a:ln/>
        </p:spPr>
        <p:txBody>
          <a:bodyPr wrap="square" lIns="0" tIns="0" rIns="0" bIns="0" rtlCol="0" anchor="ctr"/>
          <a:lstStyle/>
          <a:p>
            <a:pPr indent="0" marL="0">
              <a:buNone/>
            </a:pPr>
            <a:r>
              <a:rPr lang="en-US" sz="850" i="1" dirty="0">
                <a:solidFill>
                  <a:srgbClr val="0D7A6E"/>
                </a:solidFill>
              </a:rPr>
              <a:t>UFO-120 Dataset  ·  PSNR &amp; SSIM Improvement  ·  SE Channel Attention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3557"/>
          </a:solidFill>
          <a:ln w="12700">
            <a:solidFill>
              <a:srgbClr val="1A3557"/>
            </a:solidFill>
            <a:prstDash val="solid"/>
          </a:ln>
        </p:spPr>
      </p:sp>
      <p:sp>
        <p:nvSpPr>
          <p:cNvPr id="3" name="Text 1"/>
          <p:cNvSpPr/>
          <p:nvPr/>
        </p:nvSpPr>
        <p:spPr>
          <a:xfrm>
            <a:off x="347472" y="256032"/>
            <a:ext cx="8595360" cy="256032"/>
          </a:xfrm>
          <a:prstGeom prst="rect">
            <a:avLst/>
          </a:prstGeom>
          <a:noFill/>
          <a:ln/>
        </p:spPr>
        <p:txBody>
          <a:bodyPr wrap="square" lIns="0" tIns="0" rIns="0" bIns="0" rtlCol="0" anchor="ctr"/>
          <a:lstStyle/>
          <a:p>
            <a:pPr indent="0" marL="0">
              <a:buNone/>
            </a:pPr>
            <a:r>
              <a:rPr lang="en-US" sz="850" b="1" spc="350" kern="0" dirty="0">
                <a:solidFill>
                  <a:srgbClr val="0D7A6E"/>
                </a:solidFill>
              </a:rPr>
              <a:t>BACKGROUND &amp; MOTIVATION</a:t>
            </a:r>
            <a:endParaRPr lang="en-US" sz="850" dirty="0"/>
          </a:p>
        </p:txBody>
      </p:sp>
      <p:sp>
        <p:nvSpPr>
          <p:cNvPr id="4" name="Text 2"/>
          <p:cNvSpPr/>
          <p:nvPr/>
        </p:nvSpPr>
        <p:spPr>
          <a:xfrm>
            <a:off x="347472" y="502920"/>
            <a:ext cx="8595360" cy="566928"/>
          </a:xfrm>
          <a:prstGeom prst="rect">
            <a:avLst/>
          </a:prstGeom>
          <a:noFill/>
          <a:ln/>
        </p:spPr>
        <p:txBody>
          <a:bodyPr wrap="square" lIns="0" tIns="0" rIns="0" bIns="0" rtlCol="0" anchor="ctr"/>
          <a:lstStyle/>
          <a:p>
            <a:pPr indent="0" marL="0">
              <a:buNone/>
            </a:pPr>
            <a:r>
              <a:rPr lang="en-US" sz="2600" b="1" dirty="0">
                <a:solidFill>
                  <a:srgbClr val="1A3557"/>
                </a:solidFill>
              </a:rPr>
              <a:t>What Happens to Light Underwater?</a:t>
            </a:r>
            <a:endParaRPr lang="en-US" sz="2600" dirty="0"/>
          </a:p>
        </p:txBody>
      </p:sp>
      <p:sp>
        <p:nvSpPr>
          <p:cNvPr id="5" name="Shape 3"/>
          <p:cNvSpPr/>
          <p:nvPr/>
        </p:nvSpPr>
        <p:spPr>
          <a:xfrm>
            <a:off x="347472" y="1097280"/>
            <a:ext cx="8503920" cy="0"/>
          </a:xfrm>
          <a:prstGeom prst="line">
            <a:avLst/>
          </a:prstGeom>
          <a:noFill/>
          <a:ln w="9525">
            <a:solidFill>
              <a:srgbClr val="D1D5DB"/>
            </a:solidFill>
            <a:prstDash val="solid"/>
          </a:ln>
        </p:spPr>
      </p:sp>
      <p:sp>
        <p:nvSpPr>
          <p:cNvPr id="6" name="Shape 4"/>
          <p:cNvSpPr/>
          <p:nvPr/>
        </p:nvSpPr>
        <p:spPr>
          <a:xfrm>
            <a:off x="0" y="5010912"/>
            <a:ext cx="9144000" cy="132588"/>
          </a:xfrm>
          <a:prstGeom prst="rect">
            <a:avLst/>
          </a:prstGeom>
          <a:solidFill>
            <a:srgbClr val="1A3557"/>
          </a:solidFill>
          <a:ln w="12700">
            <a:solidFill>
              <a:srgbClr val="1A3557"/>
            </a:solidFill>
            <a:prstDash val="solid"/>
          </a:ln>
        </p:spPr>
      </p:sp>
      <p:sp>
        <p:nvSpPr>
          <p:cNvPr id="7" name="Text 5"/>
          <p:cNvSpPr/>
          <p:nvPr/>
        </p:nvSpPr>
        <p:spPr>
          <a:xfrm>
            <a:off x="347472" y="5018227"/>
            <a:ext cx="7772400" cy="109728"/>
          </a:xfrm>
          <a:prstGeom prst="rect">
            <a:avLst/>
          </a:prstGeom>
          <a:noFill/>
          <a:ln/>
        </p:spPr>
        <p:txBody>
          <a:bodyPr wrap="square" lIns="0" tIns="0" rIns="0" bIns="0" rtlCol="0" anchor="ctr"/>
          <a:lstStyle/>
          <a:p>
            <a:pPr indent="0" marL="0">
              <a:buNone/>
            </a:pPr>
            <a:r>
              <a:rPr lang="en-US" sz="750" dirty="0">
                <a:solidFill>
                  <a:srgbClr val="ADBDD0"/>
                </a:solidFill>
              </a:rPr>
              <a:t>B.Dhanush  |  23bce9640  |  WWE-UIE Enhanced v2  |  UFO-120 Dataset</a:t>
            </a:r>
            <a:endParaRPr lang="en-US" sz="750" dirty="0"/>
          </a:p>
        </p:txBody>
      </p:sp>
      <p:sp>
        <p:nvSpPr>
          <p:cNvPr id="8" name="Text 6"/>
          <p:cNvSpPr/>
          <p:nvPr/>
        </p:nvSpPr>
        <p:spPr>
          <a:xfrm>
            <a:off x="8138160" y="5018227"/>
            <a:ext cx="822960" cy="109728"/>
          </a:xfrm>
          <a:prstGeom prst="rect">
            <a:avLst/>
          </a:prstGeom>
          <a:noFill/>
          <a:ln/>
        </p:spPr>
        <p:txBody>
          <a:bodyPr wrap="square" lIns="0" tIns="0" rIns="0" bIns="0" rtlCol="0" anchor="ctr"/>
          <a:lstStyle/>
          <a:p>
            <a:pPr algn="r" indent="0" marL="0">
              <a:buNone/>
            </a:pPr>
            <a:r>
              <a:rPr lang="en-US" sz="750" dirty="0">
                <a:solidFill>
                  <a:srgbClr val="ADBDD0"/>
                </a:solidFill>
              </a:rPr>
              <a:t>2 / 10</a:t>
            </a:r>
            <a:endParaRPr lang="en-US" sz="750" dirty="0"/>
          </a:p>
        </p:txBody>
      </p:sp>
      <p:sp>
        <p:nvSpPr>
          <p:cNvPr id="9" name="Text 7"/>
          <p:cNvSpPr/>
          <p:nvPr/>
        </p:nvSpPr>
        <p:spPr>
          <a:xfrm>
            <a:off x="347472" y="1188720"/>
            <a:ext cx="8503920" cy="502920"/>
          </a:xfrm>
          <a:prstGeom prst="rect">
            <a:avLst/>
          </a:prstGeom>
          <a:noFill/>
          <a:ln/>
        </p:spPr>
        <p:txBody>
          <a:bodyPr wrap="square" lIns="0" tIns="0" rIns="0" bIns="0" rtlCol="0" anchor="ctr"/>
          <a:lstStyle/>
          <a:p>
            <a:pPr indent="0" marL="0">
              <a:buNone/>
            </a:pPr>
            <a:r>
              <a:rPr lang="en-US" sz="1200" i="1" dirty="0">
                <a:solidFill>
                  <a:srgbClr val="374151"/>
                </a:solidFill>
              </a:rPr>
              <a:t>Capturing images underwater isn't simply "dark photography" — the physics of water fundamentally rewrites how color behaves. Understanding this is the first step to fixing it.</a:t>
            </a:r>
            <a:endParaRPr lang="en-US" sz="1200" dirty="0"/>
          </a:p>
        </p:txBody>
      </p:sp>
      <p:sp>
        <p:nvSpPr>
          <p:cNvPr id="10" name="Shape 8"/>
          <p:cNvSpPr/>
          <p:nvPr/>
        </p:nvSpPr>
        <p:spPr>
          <a:xfrm>
            <a:off x="347472" y="1783080"/>
            <a:ext cx="4133088" cy="1261872"/>
          </a:xfrm>
          <a:prstGeom prst="rect">
            <a:avLst/>
          </a:prstGeom>
          <a:solidFill>
            <a:srgbClr val="FEE2E2"/>
          </a:solidFill>
          <a:ln w="9525">
            <a:solidFill>
              <a:srgbClr val="FECACA"/>
            </a:solidFill>
            <a:prstDash val="solid"/>
          </a:ln>
        </p:spPr>
      </p:sp>
      <p:sp>
        <p:nvSpPr>
          <p:cNvPr id="11" name="Text 9"/>
          <p:cNvSpPr/>
          <p:nvPr/>
        </p:nvSpPr>
        <p:spPr>
          <a:xfrm>
            <a:off x="484632" y="1874520"/>
            <a:ext cx="3840480" cy="320040"/>
          </a:xfrm>
          <a:prstGeom prst="rect">
            <a:avLst/>
          </a:prstGeom>
          <a:noFill/>
          <a:ln/>
        </p:spPr>
        <p:txBody>
          <a:bodyPr wrap="square" lIns="0" tIns="0" rIns="0" bIns="0" rtlCol="0" anchor="ctr"/>
          <a:lstStyle/>
          <a:p>
            <a:pPr indent="0" marL="0">
              <a:buNone/>
            </a:pPr>
            <a:r>
              <a:rPr lang="en-US" sz="1200" b="1" dirty="0">
                <a:solidFill>
                  <a:srgbClr val="B91C1C"/>
                </a:solidFill>
              </a:rPr>
              <a:t>🔴  Red Light Vanishes First</a:t>
            </a:r>
            <a:endParaRPr lang="en-US" sz="1200" dirty="0"/>
          </a:p>
        </p:txBody>
      </p:sp>
      <p:sp>
        <p:nvSpPr>
          <p:cNvPr id="12" name="Text 10"/>
          <p:cNvSpPr/>
          <p:nvPr/>
        </p:nvSpPr>
        <p:spPr>
          <a:xfrm>
            <a:off x="484632" y="2221992"/>
            <a:ext cx="3840480" cy="749808"/>
          </a:xfrm>
          <a:prstGeom prst="rect">
            <a:avLst/>
          </a:prstGeom>
          <a:noFill/>
          <a:ln/>
        </p:spPr>
        <p:txBody>
          <a:bodyPr wrap="square" lIns="0" tIns="0" rIns="0" bIns="0" rtlCol="0" anchor="ctr"/>
          <a:lstStyle/>
          <a:p>
            <a:pPr indent="0" marL="0">
              <a:buNone/>
            </a:pPr>
            <a:r>
              <a:rPr lang="en-US" sz="1000" dirty="0">
                <a:solidFill>
                  <a:srgbClr val="374151"/>
                </a:solidFill>
              </a:rPr>
              <a:t>Within just 5 metres of water, red wavelengths are almost completely absorbed. This is why every raw underwater photo has that signature blue-green tint — it isn't a camera problem, it's physics.</a:t>
            </a:r>
            <a:endParaRPr lang="en-US" sz="1000" dirty="0"/>
          </a:p>
        </p:txBody>
      </p:sp>
      <p:sp>
        <p:nvSpPr>
          <p:cNvPr id="13" name="Shape 11"/>
          <p:cNvSpPr/>
          <p:nvPr/>
        </p:nvSpPr>
        <p:spPr>
          <a:xfrm>
            <a:off x="4663440" y="1783080"/>
            <a:ext cx="4133088" cy="1261872"/>
          </a:xfrm>
          <a:prstGeom prst="rect">
            <a:avLst/>
          </a:prstGeom>
          <a:solidFill>
            <a:srgbClr val="E3F4FB"/>
          </a:solidFill>
          <a:ln w="9525">
            <a:solidFill>
              <a:srgbClr val="BAE6FD"/>
            </a:solidFill>
            <a:prstDash val="solid"/>
          </a:ln>
        </p:spPr>
      </p:sp>
      <p:sp>
        <p:nvSpPr>
          <p:cNvPr id="14" name="Text 12"/>
          <p:cNvSpPr/>
          <p:nvPr/>
        </p:nvSpPr>
        <p:spPr>
          <a:xfrm>
            <a:off x="4800600" y="1874520"/>
            <a:ext cx="3840480" cy="320040"/>
          </a:xfrm>
          <a:prstGeom prst="rect">
            <a:avLst/>
          </a:prstGeom>
          <a:noFill/>
          <a:ln/>
        </p:spPr>
        <p:txBody>
          <a:bodyPr wrap="square" lIns="0" tIns="0" rIns="0" bIns="0" rtlCol="0" anchor="ctr"/>
          <a:lstStyle/>
          <a:p>
            <a:pPr indent="0" marL="0">
              <a:buNone/>
            </a:pPr>
            <a:r>
              <a:rPr lang="en-US" sz="1200" b="1" dirty="0">
                <a:solidFill>
                  <a:srgbClr val="2196C9"/>
                </a:solidFill>
              </a:rPr>
              <a:t>🌊  Scattering Kills Sharpness</a:t>
            </a:r>
            <a:endParaRPr lang="en-US" sz="1200" dirty="0"/>
          </a:p>
        </p:txBody>
      </p:sp>
      <p:sp>
        <p:nvSpPr>
          <p:cNvPr id="15" name="Text 13"/>
          <p:cNvSpPr/>
          <p:nvPr/>
        </p:nvSpPr>
        <p:spPr>
          <a:xfrm>
            <a:off x="4800600" y="2221992"/>
            <a:ext cx="3840480" cy="749808"/>
          </a:xfrm>
          <a:prstGeom prst="rect">
            <a:avLst/>
          </a:prstGeom>
          <a:noFill/>
          <a:ln/>
        </p:spPr>
        <p:txBody>
          <a:bodyPr wrap="square" lIns="0" tIns="0" rIns="0" bIns="0" rtlCol="0" anchor="ctr"/>
          <a:lstStyle/>
          <a:p>
            <a:pPr indent="0" marL="0">
              <a:buNone/>
            </a:pPr>
            <a:r>
              <a:rPr lang="en-US" sz="1000" dirty="0">
                <a:solidFill>
                  <a:srgbClr val="374151"/>
                </a:solidFill>
              </a:rPr>
              <a:t>Suspended particles in water scatter light in all directions, similar to fog on land. Edges become soft, contrast drops, and fine textures like coral branches or fish scales are lost entirely.</a:t>
            </a:r>
            <a:endParaRPr lang="en-US" sz="1000" dirty="0"/>
          </a:p>
        </p:txBody>
      </p:sp>
      <p:sp>
        <p:nvSpPr>
          <p:cNvPr id="16" name="Shape 14"/>
          <p:cNvSpPr/>
          <p:nvPr/>
        </p:nvSpPr>
        <p:spPr>
          <a:xfrm>
            <a:off x="347472" y="3172968"/>
            <a:ext cx="4133088" cy="1261872"/>
          </a:xfrm>
          <a:prstGeom prst="rect">
            <a:avLst/>
          </a:prstGeom>
          <a:solidFill>
            <a:srgbClr val="E6F4F2"/>
          </a:solidFill>
          <a:ln w="9525">
            <a:solidFill>
              <a:srgbClr val="99D6D0"/>
            </a:solidFill>
            <a:prstDash val="solid"/>
          </a:ln>
        </p:spPr>
      </p:sp>
      <p:sp>
        <p:nvSpPr>
          <p:cNvPr id="17" name="Text 15"/>
          <p:cNvSpPr/>
          <p:nvPr/>
        </p:nvSpPr>
        <p:spPr>
          <a:xfrm>
            <a:off x="484632" y="3264408"/>
            <a:ext cx="3840480" cy="320040"/>
          </a:xfrm>
          <a:prstGeom prst="rect">
            <a:avLst/>
          </a:prstGeom>
          <a:noFill/>
          <a:ln/>
        </p:spPr>
        <p:txBody>
          <a:bodyPr wrap="square" lIns="0" tIns="0" rIns="0" bIns="0" rtlCol="0" anchor="ctr"/>
          <a:lstStyle/>
          <a:p>
            <a:pPr indent="0" marL="0">
              <a:buNone/>
            </a:pPr>
            <a:r>
              <a:rPr lang="en-US" sz="1200" b="1" dirty="0">
                <a:solidFill>
                  <a:srgbClr val="0D7A6E"/>
                </a:solidFill>
              </a:rPr>
              <a:t>🤖  Why This Matters in Practice</a:t>
            </a:r>
            <a:endParaRPr lang="en-US" sz="1200" dirty="0"/>
          </a:p>
        </p:txBody>
      </p:sp>
      <p:sp>
        <p:nvSpPr>
          <p:cNvPr id="18" name="Text 16"/>
          <p:cNvSpPr/>
          <p:nvPr/>
        </p:nvSpPr>
        <p:spPr>
          <a:xfrm>
            <a:off x="484632" y="3611880"/>
            <a:ext cx="3840480" cy="749808"/>
          </a:xfrm>
          <a:prstGeom prst="rect">
            <a:avLst/>
          </a:prstGeom>
          <a:noFill/>
          <a:ln/>
        </p:spPr>
        <p:txBody>
          <a:bodyPr wrap="square" lIns="0" tIns="0" rIns="0" bIns="0" rtlCol="0" anchor="ctr"/>
          <a:lstStyle/>
          <a:p>
            <a:pPr indent="0" marL="0">
              <a:buNone/>
            </a:pPr>
            <a:r>
              <a:rPr lang="en-US" sz="1000" dirty="0">
                <a:solidFill>
                  <a:srgbClr val="374151"/>
                </a:solidFill>
              </a:rPr>
              <a:t>Marine robots, ecological surveys, and inspection cameras all depend on clear vision. A blurry, color-distorted feed means wrong decisions — misidentified species, missed cracks in infrastructure, failed navigation.</a:t>
            </a:r>
            <a:endParaRPr lang="en-US" sz="1000" dirty="0"/>
          </a:p>
        </p:txBody>
      </p:sp>
      <p:sp>
        <p:nvSpPr>
          <p:cNvPr id="19" name="Shape 17"/>
          <p:cNvSpPr/>
          <p:nvPr/>
        </p:nvSpPr>
        <p:spPr>
          <a:xfrm>
            <a:off x="4663440" y="3172968"/>
            <a:ext cx="4133088" cy="1261872"/>
          </a:xfrm>
          <a:prstGeom prst="rect">
            <a:avLst/>
          </a:prstGeom>
          <a:solidFill>
            <a:srgbClr val="FEF3C7"/>
          </a:solidFill>
          <a:ln w="9525">
            <a:solidFill>
              <a:srgbClr val="FCD34D"/>
            </a:solidFill>
            <a:prstDash val="solid"/>
          </a:ln>
        </p:spPr>
      </p:sp>
      <p:sp>
        <p:nvSpPr>
          <p:cNvPr id="20" name="Text 18"/>
          <p:cNvSpPr/>
          <p:nvPr/>
        </p:nvSpPr>
        <p:spPr>
          <a:xfrm>
            <a:off x="4800600" y="3264408"/>
            <a:ext cx="3840480" cy="320040"/>
          </a:xfrm>
          <a:prstGeom prst="rect">
            <a:avLst/>
          </a:prstGeom>
          <a:noFill/>
          <a:ln/>
        </p:spPr>
        <p:txBody>
          <a:bodyPr wrap="square" lIns="0" tIns="0" rIns="0" bIns="0" rtlCol="0" anchor="ctr"/>
          <a:lstStyle/>
          <a:p>
            <a:pPr indent="0" marL="0">
              <a:buNone/>
            </a:pPr>
            <a:r>
              <a:rPr lang="en-US" sz="1200" b="1" dirty="0">
                <a:solidFill>
                  <a:srgbClr val="D97706"/>
                </a:solidFill>
              </a:rPr>
              <a:t>⚡  The Real-Time Challenge</a:t>
            </a:r>
            <a:endParaRPr lang="en-US" sz="1200" dirty="0"/>
          </a:p>
        </p:txBody>
      </p:sp>
      <p:sp>
        <p:nvSpPr>
          <p:cNvPr id="21" name="Text 19"/>
          <p:cNvSpPr/>
          <p:nvPr/>
        </p:nvSpPr>
        <p:spPr>
          <a:xfrm>
            <a:off x="4800600" y="3611880"/>
            <a:ext cx="3840480" cy="749808"/>
          </a:xfrm>
          <a:prstGeom prst="rect">
            <a:avLst/>
          </a:prstGeom>
          <a:noFill/>
          <a:ln/>
        </p:spPr>
        <p:txBody>
          <a:bodyPr wrap="square" lIns="0" tIns="0" rIns="0" bIns="0" rtlCol="0" anchor="ctr"/>
          <a:lstStyle/>
          <a:p>
            <a:pPr indent="0" marL="0">
              <a:buNone/>
            </a:pPr>
            <a:r>
              <a:rPr lang="en-US" sz="1000" dirty="0">
                <a:solidFill>
                  <a:srgbClr val="374151"/>
                </a:solidFill>
              </a:rPr>
              <a:t>Most high-quality enhancement methods are too heavy to run on embedded hardware. A camera mounted on an ROV cannot afford to wait 80ms per frame — enhancement must be fast and accurate simultaneously.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3557"/>
          </a:solidFill>
          <a:ln w="12700">
            <a:solidFill>
              <a:srgbClr val="1A3557"/>
            </a:solidFill>
            <a:prstDash val="solid"/>
          </a:ln>
        </p:spPr>
      </p:sp>
      <p:sp>
        <p:nvSpPr>
          <p:cNvPr id="3" name="Text 1"/>
          <p:cNvSpPr/>
          <p:nvPr/>
        </p:nvSpPr>
        <p:spPr>
          <a:xfrm>
            <a:off x="347472" y="256032"/>
            <a:ext cx="8595360" cy="256032"/>
          </a:xfrm>
          <a:prstGeom prst="rect">
            <a:avLst/>
          </a:prstGeom>
          <a:noFill/>
          <a:ln/>
        </p:spPr>
        <p:txBody>
          <a:bodyPr wrap="square" lIns="0" tIns="0" rIns="0" bIns="0" rtlCol="0" anchor="ctr"/>
          <a:lstStyle/>
          <a:p>
            <a:pPr indent="0" marL="0">
              <a:buNone/>
            </a:pPr>
            <a:r>
              <a:rPr lang="en-US" sz="850" b="1" spc="350" kern="0" dirty="0">
                <a:solidFill>
                  <a:srgbClr val="0D7A6E"/>
                </a:solidFill>
              </a:rPr>
              <a:t>BASE PAPER</a:t>
            </a:r>
            <a:endParaRPr lang="en-US" sz="850" dirty="0"/>
          </a:p>
        </p:txBody>
      </p:sp>
      <p:sp>
        <p:nvSpPr>
          <p:cNvPr id="4" name="Text 2"/>
          <p:cNvSpPr/>
          <p:nvPr/>
        </p:nvSpPr>
        <p:spPr>
          <a:xfrm>
            <a:off x="347472" y="502920"/>
            <a:ext cx="8595360" cy="566928"/>
          </a:xfrm>
          <a:prstGeom prst="rect">
            <a:avLst/>
          </a:prstGeom>
          <a:noFill/>
          <a:ln/>
        </p:spPr>
        <p:txBody>
          <a:bodyPr wrap="square" lIns="0" tIns="0" rIns="0" bIns="0" rtlCol="0" anchor="ctr"/>
          <a:lstStyle/>
          <a:p>
            <a:pPr indent="0" marL="0">
              <a:buNone/>
            </a:pPr>
            <a:r>
              <a:rPr lang="en-US" sz="2600" b="1" dirty="0">
                <a:solidFill>
                  <a:srgbClr val="1A3557"/>
                </a:solidFill>
              </a:rPr>
              <a:t>WWE-UIE — The Foundation I Built Upon</a:t>
            </a:r>
            <a:endParaRPr lang="en-US" sz="2600" dirty="0"/>
          </a:p>
        </p:txBody>
      </p:sp>
      <p:sp>
        <p:nvSpPr>
          <p:cNvPr id="5" name="Shape 3"/>
          <p:cNvSpPr/>
          <p:nvPr/>
        </p:nvSpPr>
        <p:spPr>
          <a:xfrm>
            <a:off x="347472" y="1097280"/>
            <a:ext cx="8503920" cy="0"/>
          </a:xfrm>
          <a:prstGeom prst="line">
            <a:avLst/>
          </a:prstGeom>
          <a:noFill/>
          <a:ln w="9525">
            <a:solidFill>
              <a:srgbClr val="D1D5DB"/>
            </a:solidFill>
            <a:prstDash val="solid"/>
          </a:ln>
        </p:spPr>
      </p:sp>
      <p:sp>
        <p:nvSpPr>
          <p:cNvPr id="6" name="Shape 4"/>
          <p:cNvSpPr/>
          <p:nvPr/>
        </p:nvSpPr>
        <p:spPr>
          <a:xfrm>
            <a:off x="0" y="5010912"/>
            <a:ext cx="9144000" cy="132588"/>
          </a:xfrm>
          <a:prstGeom prst="rect">
            <a:avLst/>
          </a:prstGeom>
          <a:solidFill>
            <a:srgbClr val="1A3557"/>
          </a:solidFill>
          <a:ln w="12700">
            <a:solidFill>
              <a:srgbClr val="1A3557"/>
            </a:solidFill>
            <a:prstDash val="solid"/>
          </a:ln>
        </p:spPr>
      </p:sp>
      <p:sp>
        <p:nvSpPr>
          <p:cNvPr id="7" name="Text 5"/>
          <p:cNvSpPr/>
          <p:nvPr/>
        </p:nvSpPr>
        <p:spPr>
          <a:xfrm>
            <a:off x="347472" y="5018227"/>
            <a:ext cx="7772400" cy="109728"/>
          </a:xfrm>
          <a:prstGeom prst="rect">
            <a:avLst/>
          </a:prstGeom>
          <a:noFill/>
          <a:ln/>
        </p:spPr>
        <p:txBody>
          <a:bodyPr wrap="square" lIns="0" tIns="0" rIns="0" bIns="0" rtlCol="0" anchor="ctr"/>
          <a:lstStyle/>
          <a:p>
            <a:pPr indent="0" marL="0">
              <a:buNone/>
            </a:pPr>
            <a:r>
              <a:rPr lang="en-US" sz="750" dirty="0">
                <a:solidFill>
                  <a:srgbClr val="ADBDD0"/>
                </a:solidFill>
              </a:rPr>
              <a:t>B.Dhanush  |  23bce9640  |  WWE-UIE Enhanced v2  |  UFO-120 Dataset</a:t>
            </a:r>
            <a:endParaRPr lang="en-US" sz="750" dirty="0"/>
          </a:p>
        </p:txBody>
      </p:sp>
      <p:sp>
        <p:nvSpPr>
          <p:cNvPr id="8" name="Text 6"/>
          <p:cNvSpPr/>
          <p:nvPr/>
        </p:nvSpPr>
        <p:spPr>
          <a:xfrm>
            <a:off x="8138160" y="5018227"/>
            <a:ext cx="822960" cy="109728"/>
          </a:xfrm>
          <a:prstGeom prst="rect">
            <a:avLst/>
          </a:prstGeom>
          <a:noFill/>
          <a:ln/>
        </p:spPr>
        <p:txBody>
          <a:bodyPr wrap="square" lIns="0" tIns="0" rIns="0" bIns="0" rtlCol="0" anchor="ctr"/>
          <a:lstStyle/>
          <a:p>
            <a:pPr algn="r" indent="0" marL="0">
              <a:buNone/>
            </a:pPr>
            <a:r>
              <a:rPr lang="en-US" sz="750" dirty="0">
                <a:solidFill>
                  <a:srgbClr val="ADBDD0"/>
                </a:solidFill>
              </a:rPr>
              <a:t>3 / 10</a:t>
            </a:r>
            <a:endParaRPr lang="en-US" sz="750" dirty="0"/>
          </a:p>
        </p:txBody>
      </p:sp>
      <p:sp>
        <p:nvSpPr>
          <p:cNvPr id="9" name="Text 7"/>
          <p:cNvSpPr/>
          <p:nvPr/>
        </p:nvSpPr>
        <p:spPr>
          <a:xfrm>
            <a:off x="347472" y="1188720"/>
            <a:ext cx="8503920" cy="548640"/>
          </a:xfrm>
          <a:prstGeom prst="rect">
            <a:avLst/>
          </a:prstGeom>
          <a:noFill/>
          <a:ln/>
        </p:spPr>
        <p:txBody>
          <a:bodyPr wrap="square" lIns="0" tIns="0" rIns="0" bIns="0" rtlCol="0" anchor="ctr"/>
          <a:lstStyle/>
          <a:p>
            <a:pPr indent="0" marL="0">
              <a:buNone/>
            </a:pPr>
            <a:r>
              <a:rPr lang="en-US" sz="1100" i="1" dirty="0">
                <a:solidFill>
                  <a:srgbClr val="374151"/>
                </a:solidFill>
              </a:rPr>
              <a:t>The original paper, WWE-UIE, made a smart observation: you don't need a massive transformer to do good underwater enhancement — you just need the right physical priors baked into a compact architecture. Here's how their three-component system works:</a:t>
            </a:r>
            <a:endParaRPr lang="en-US" sz="1100" dirty="0"/>
          </a:p>
        </p:txBody>
      </p:sp>
      <p:sp>
        <p:nvSpPr>
          <p:cNvPr id="10" name="Shape 8"/>
          <p:cNvSpPr/>
          <p:nvPr/>
        </p:nvSpPr>
        <p:spPr>
          <a:xfrm>
            <a:off x="347472" y="1810512"/>
            <a:ext cx="2697480" cy="3035808"/>
          </a:xfrm>
          <a:prstGeom prst="rect">
            <a:avLst/>
          </a:prstGeom>
          <a:solidFill>
            <a:srgbClr val="E6F4F2"/>
          </a:solidFill>
          <a:ln w="6350">
            <a:solidFill>
              <a:srgbClr val="D1D5DB"/>
            </a:solidFill>
            <a:prstDash val="solid"/>
          </a:ln>
        </p:spPr>
      </p:sp>
      <p:sp>
        <p:nvSpPr>
          <p:cNvPr id="11" name="Shape 9"/>
          <p:cNvSpPr/>
          <p:nvPr/>
        </p:nvSpPr>
        <p:spPr>
          <a:xfrm>
            <a:off x="347472" y="1810512"/>
            <a:ext cx="2697480" cy="475488"/>
          </a:xfrm>
          <a:prstGeom prst="rect">
            <a:avLst/>
          </a:prstGeom>
          <a:solidFill>
            <a:srgbClr val="0D7A6E"/>
          </a:solidFill>
          <a:ln w="12700">
            <a:solidFill>
              <a:srgbClr val="0D7A6E"/>
            </a:solidFill>
            <a:prstDash val="solid"/>
          </a:ln>
        </p:spPr>
      </p:sp>
      <p:sp>
        <p:nvSpPr>
          <p:cNvPr id="12" name="Text 10"/>
          <p:cNvSpPr/>
          <p:nvPr/>
        </p:nvSpPr>
        <p:spPr>
          <a:xfrm>
            <a:off x="457200" y="1892808"/>
            <a:ext cx="2468880" cy="320040"/>
          </a:xfrm>
          <a:prstGeom prst="rect">
            <a:avLst/>
          </a:prstGeom>
          <a:noFill/>
          <a:ln/>
        </p:spPr>
        <p:txBody>
          <a:bodyPr wrap="square" lIns="0" tIns="0" rIns="0" bIns="0" rtlCol="0" anchor="ctr"/>
          <a:lstStyle/>
          <a:p>
            <a:pPr indent="0" marL="0">
              <a:buNone/>
            </a:pPr>
            <a:r>
              <a:rPr lang="en-US" sz="1100" b="1" dirty="0">
                <a:solidFill>
                  <a:srgbClr val="FFFFFF"/>
                </a:solidFill>
              </a:rPr>
              <a:t>01  Adaptive White Balance</a:t>
            </a:r>
            <a:endParaRPr lang="en-US" sz="1100" dirty="0"/>
          </a:p>
        </p:txBody>
      </p:sp>
      <p:sp>
        <p:nvSpPr>
          <p:cNvPr id="13" name="Text 11"/>
          <p:cNvSpPr/>
          <p:nvPr/>
        </p:nvSpPr>
        <p:spPr>
          <a:xfrm>
            <a:off x="457200" y="2377440"/>
            <a:ext cx="2468880" cy="201168"/>
          </a:xfrm>
          <a:prstGeom prst="rect">
            <a:avLst/>
          </a:prstGeom>
          <a:noFill/>
          <a:ln/>
        </p:spPr>
        <p:txBody>
          <a:bodyPr wrap="square" lIns="0" tIns="0" rIns="0" bIns="0" rtlCol="0" anchor="ctr"/>
          <a:lstStyle/>
          <a:p>
            <a:pPr indent="0" marL="0">
              <a:buNone/>
            </a:pPr>
            <a:r>
              <a:rPr lang="en-US" sz="750" b="1" spc="150" kern="0" dirty="0">
                <a:solidFill>
                  <a:srgbClr val="0D7A6E"/>
                </a:solidFill>
              </a:rPr>
              <a:t>WHAT IT DOES</a:t>
            </a:r>
            <a:endParaRPr lang="en-US" sz="750" dirty="0"/>
          </a:p>
        </p:txBody>
      </p:sp>
      <p:sp>
        <p:nvSpPr>
          <p:cNvPr id="14" name="Text 12"/>
          <p:cNvSpPr/>
          <p:nvPr/>
        </p:nvSpPr>
        <p:spPr>
          <a:xfrm>
            <a:off x="457200" y="2587752"/>
            <a:ext cx="2468880" cy="960120"/>
          </a:xfrm>
          <a:prstGeom prst="rect">
            <a:avLst/>
          </a:prstGeom>
          <a:noFill/>
          <a:ln/>
        </p:spPr>
        <p:txBody>
          <a:bodyPr wrap="square" lIns="0" tIns="0" rIns="0" bIns="0" rtlCol="0" anchor="ctr"/>
          <a:lstStyle/>
          <a:p>
            <a:pPr indent="0" marL="0">
              <a:buNone/>
            </a:pPr>
            <a:r>
              <a:rPr lang="en-US" sz="950" dirty="0">
                <a:solidFill>
                  <a:srgbClr val="374151"/>
                </a:solidFill>
              </a:rPr>
              <a:t>Estimates per-channel color gains using the Gray-World assumption, then blends the corrected image with the raw input via three learnable weights (γR, γG, γB).</a:t>
            </a:r>
            <a:endParaRPr lang="en-US" sz="950" dirty="0"/>
          </a:p>
        </p:txBody>
      </p:sp>
      <p:sp>
        <p:nvSpPr>
          <p:cNvPr id="15" name="Text 13"/>
          <p:cNvSpPr/>
          <p:nvPr/>
        </p:nvSpPr>
        <p:spPr>
          <a:xfrm>
            <a:off x="457200" y="3621024"/>
            <a:ext cx="2468880" cy="201168"/>
          </a:xfrm>
          <a:prstGeom prst="rect">
            <a:avLst/>
          </a:prstGeom>
          <a:noFill/>
          <a:ln/>
        </p:spPr>
        <p:txBody>
          <a:bodyPr wrap="square" lIns="0" tIns="0" rIns="0" bIns="0" rtlCol="0" anchor="ctr"/>
          <a:lstStyle/>
          <a:p>
            <a:pPr indent="0" marL="0">
              <a:buNone/>
            </a:pPr>
            <a:r>
              <a:rPr lang="en-US" sz="750" b="1" spc="150" kern="0" dirty="0">
                <a:solidFill>
                  <a:srgbClr val="0D7A6E"/>
                </a:solidFill>
              </a:rPr>
              <a:t>WHY IT HELPS</a:t>
            </a:r>
            <a:endParaRPr lang="en-US" sz="750" dirty="0"/>
          </a:p>
        </p:txBody>
      </p:sp>
      <p:sp>
        <p:nvSpPr>
          <p:cNvPr id="16" name="Text 14"/>
          <p:cNvSpPr/>
          <p:nvPr/>
        </p:nvSpPr>
        <p:spPr>
          <a:xfrm>
            <a:off x="457200" y="3840480"/>
            <a:ext cx="2468880" cy="896112"/>
          </a:xfrm>
          <a:prstGeom prst="rect">
            <a:avLst/>
          </a:prstGeom>
          <a:noFill/>
          <a:ln/>
        </p:spPr>
        <p:txBody>
          <a:bodyPr wrap="square" lIns="0" tIns="0" rIns="0" bIns="0" rtlCol="0" anchor="ctr"/>
          <a:lstStyle/>
          <a:p>
            <a:pPr indent="0" marL="0">
              <a:buNone/>
            </a:pPr>
            <a:r>
              <a:rPr lang="en-US" sz="950" dirty="0">
                <a:solidFill>
                  <a:srgbClr val="374151"/>
                </a:solidFill>
              </a:rPr>
              <a:t>Directly compensates for the red-channel collapse without needing a separate estimation branch — simple, interpretable, and fast.</a:t>
            </a:r>
            <a:endParaRPr lang="en-US" sz="950" dirty="0"/>
          </a:p>
        </p:txBody>
      </p:sp>
      <p:sp>
        <p:nvSpPr>
          <p:cNvPr id="17" name="Shape 15"/>
          <p:cNvSpPr/>
          <p:nvPr/>
        </p:nvSpPr>
        <p:spPr>
          <a:xfrm>
            <a:off x="3182112" y="1810512"/>
            <a:ext cx="2697480" cy="3035808"/>
          </a:xfrm>
          <a:prstGeom prst="rect">
            <a:avLst/>
          </a:prstGeom>
          <a:solidFill>
            <a:srgbClr val="E3F4FB"/>
          </a:solidFill>
          <a:ln w="6350">
            <a:solidFill>
              <a:srgbClr val="D1D5DB"/>
            </a:solidFill>
            <a:prstDash val="solid"/>
          </a:ln>
        </p:spPr>
      </p:sp>
      <p:sp>
        <p:nvSpPr>
          <p:cNvPr id="18" name="Shape 16"/>
          <p:cNvSpPr/>
          <p:nvPr/>
        </p:nvSpPr>
        <p:spPr>
          <a:xfrm>
            <a:off x="3182112" y="1810512"/>
            <a:ext cx="2697480" cy="475488"/>
          </a:xfrm>
          <a:prstGeom prst="rect">
            <a:avLst/>
          </a:prstGeom>
          <a:solidFill>
            <a:srgbClr val="2196C9"/>
          </a:solidFill>
          <a:ln w="12700">
            <a:solidFill>
              <a:srgbClr val="2196C9"/>
            </a:solidFill>
            <a:prstDash val="solid"/>
          </a:ln>
        </p:spPr>
      </p:sp>
      <p:sp>
        <p:nvSpPr>
          <p:cNvPr id="19" name="Text 17"/>
          <p:cNvSpPr/>
          <p:nvPr/>
        </p:nvSpPr>
        <p:spPr>
          <a:xfrm>
            <a:off x="3291840" y="1892808"/>
            <a:ext cx="2468880" cy="320040"/>
          </a:xfrm>
          <a:prstGeom prst="rect">
            <a:avLst/>
          </a:prstGeom>
          <a:noFill/>
          <a:ln/>
        </p:spPr>
        <p:txBody>
          <a:bodyPr wrap="square" lIns="0" tIns="0" rIns="0" bIns="0" rtlCol="0" anchor="ctr"/>
          <a:lstStyle/>
          <a:p>
            <a:pPr indent="0" marL="0">
              <a:buNone/>
            </a:pPr>
            <a:r>
              <a:rPr lang="en-US" sz="1100" b="1" dirty="0">
                <a:solidFill>
                  <a:srgbClr val="FFFFFF"/>
                </a:solidFill>
              </a:rPr>
              <a:t>02  Wavelet Enhancement Block (WEB)</a:t>
            </a:r>
            <a:endParaRPr lang="en-US" sz="1100" dirty="0"/>
          </a:p>
        </p:txBody>
      </p:sp>
      <p:sp>
        <p:nvSpPr>
          <p:cNvPr id="20" name="Text 18"/>
          <p:cNvSpPr/>
          <p:nvPr/>
        </p:nvSpPr>
        <p:spPr>
          <a:xfrm>
            <a:off x="3291840" y="2377440"/>
            <a:ext cx="2468880" cy="201168"/>
          </a:xfrm>
          <a:prstGeom prst="rect">
            <a:avLst/>
          </a:prstGeom>
          <a:noFill/>
          <a:ln/>
        </p:spPr>
        <p:txBody>
          <a:bodyPr wrap="square" lIns="0" tIns="0" rIns="0" bIns="0" rtlCol="0" anchor="ctr"/>
          <a:lstStyle/>
          <a:p>
            <a:pPr indent="0" marL="0">
              <a:buNone/>
            </a:pPr>
            <a:r>
              <a:rPr lang="en-US" sz="750" b="1" spc="150" kern="0" dirty="0">
                <a:solidFill>
                  <a:srgbClr val="2196C9"/>
                </a:solidFill>
              </a:rPr>
              <a:t>WHAT IT DOES</a:t>
            </a:r>
            <a:endParaRPr lang="en-US" sz="750" dirty="0"/>
          </a:p>
        </p:txBody>
      </p:sp>
      <p:sp>
        <p:nvSpPr>
          <p:cNvPr id="21" name="Text 19"/>
          <p:cNvSpPr/>
          <p:nvPr/>
        </p:nvSpPr>
        <p:spPr>
          <a:xfrm>
            <a:off x="3291840" y="2587752"/>
            <a:ext cx="2468880" cy="960120"/>
          </a:xfrm>
          <a:prstGeom prst="rect">
            <a:avLst/>
          </a:prstGeom>
          <a:noFill/>
          <a:ln/>
        </p:spPr>
        <p:txBody>
          <a:bodyPr wrap="square" lIns="0" tIns="0" rIns="0" bIns="0" rtlCol="0" anchor="ctr"/>
          <a:lstStyle/>
          <a:p>
            <a:pPr indent="0" marL="0">
              <a:buNone/>
            </a:pPr>
            <a:r>
              <a:rPr lang="en-US" sz="950" dirty="0">
                <a:solidFill>
                  <a:srgbClr val="374151"/>
                </a:solidFill>
              </a:rPr>
              <a:t>Uses a Haar filter bank to split feature maps into four subbands — LL (global structure), LH/HL (horizontal &amp; vertical edges), HH (diagonal detail) — then processes each band with lightweight convolutions.</a:t>
            </a:r>
            <a:endParaRPr lang="en-US" sz="950" dirty="0"/>
          </a:p>
        </p:txBody>
      </p:sp>
      <p:sp>
        <p:nvSpPr>
          <p:cNvPr id="22" name="Text 20"/>
          <p:cNvSpPr/>
          <p:nvPr/>
        </p:nvSpPr>
        <p:spPr>
          <a:xfrm>
            <a:off x="3291840" y="3621024"/>
            <a:ext cx="2468880" cy="201168"/>
          </a:xfrm>
          <a:prstGeom prst="rect">
            <a:avLst/>
          </a:prstGeom>
          <a:noFill/>
          <a:ln/>
        </p:spPr>
        <p:txBody>
          <a:bodyPr wrap="square" lIns="0" tIns="0" rIns="0" bIns="0" rtlCol="0" anchor="ctr"/>
          <a:lstStyle/>
          <a:p>
            <a:pPr indent="0" marL="0">
              <a:buNone/>
            </a:pPr>
            <a:r>
              <a:rPr lang="en-US" sz="750" b="1" spc="150" kern="0" dirty="0">
                <a:solidFill>
                  <a:srgbClr val="2196C9"/>
                </a:solidFill>
              </a:rPr>
              <a:t>WHY IT HELPS</a:t>
            </a:r>
            <a:endParaRPr lang="en-US" sz="750" dirty="0"/>
          </a:p>
        </p:txBody>
      </p:sp>
      <p:sp>
        <p:nvSpPr>
          <p:cNvPr id="23" name="Text 21"/>
          <p:cNvSpPr/>
          <p:nvPr/>
        </p:nvSpPr>
        <p:spPr>
          <a:xfrm>
            <a:off x="3291840" y="3840480"/>
            <a:ext cx="2468880" cy="896112"/>
          </a:xfrm>
          <a:prstGeom prst="rect">
            <a:avLst/>
          </a:prstGeom>
          <a:noFill/>
          <a:ln/>
        </p:spPr>
        <p:txBody>
          <a:bodyPr wrap="square" lIns="0" tIns="0" rIns="0" bIns="0" rtlCol="0" anchor="ctr"/>
          <a:lstStyle/>
          <a:p>
            <a:pPr indent="0" marL="0">
              <a:buNone/>
            </a:pPr>
            <a:r>
              <a:rPr lang="en-US" sz="950" dirty="0">
                <a:solidFill>
                  <a:srgbClr val="374151"/>
                </a:solidFill>
              </a:rPr>
              <a:t>Unlike Fourier transforms that lose spatial location, wavelets preserve both where and what — critical for restoring textures spread across an image.</a:t>
            </a:r>
            <a:endParaRPr lang="en-US" sz="950" dirty="0"/>
          </a:p>
        </p:txBody>
      </p:sp>
      <p:sp>
        <p:nvSpPr>
          <p:cNvPr id="24" name="Shape 22"/>
          <p:cNvSpPr/>
          <p:nvPr/>
        </p:nvSpPr>
        <p:spPr>
          <a:xfrm>
            <a:off x="6016752" y="1810512"/>
            <a:ext cx="2697480" cy="3035808"/>
          </a:xfrm>
          <a:prstGeom prst="rect">
            <a:avLst/>
          </a:prstGeom>
          <a:solidFill>
            <a:srgbClr val="FEF3C7"/>
          </a:solidFill>
          <a:ln w="6350">
            <a:solidFill>
              <a:srgbClr val="D1D5DB"/>
            </a:solidFill>
            <a:prstDash val="solid"/>
          </a:ln>
        </p:spPr>
      </p:sp>
      <p:sp>
        <p:nvSpPr>
          <p:cNvPr id="25" name="Shape 23"/>
          <p:cNvSpPr/>
          <p:nvPr/>
        </p:nvSpPr>
        <p:spPr>
          <a:xfrm>
            <a:off x="6016752" y="1810512"/>
            <a:ext cx="2697480" cy="475488"/>
          </a:xfrm>
          <a:prstGeom prst="rect">
            <a:avLst/>
          </a:prstGeom>
          <a:solidFill>
            <a:srgbClr val="D97706"/>
          </a:solidFill>
          <a:ln w="12700">
            <a:solidFill>
              <a:srgbClr val="D97706"/>
            </a:solidFill>
            <a:prstDash val="solid"/>
          </a:ln>
        </p:spPr>
      </p:sp>
      <p:sp>
        <p:nvSpPr>
          <p:cNvPr id="26" name="Text 24"/>
          <p:cNvSpPr/>
          <p:nvPr/>
        </p:nvSpPr>
        <p:spPr>
          <a:xfrm>
            <a:off x="6126480" y="1892808"/>
            <a:ext cx="2468880" cy="320040"/>
          </a:xfrm>
          <a:prstGeom prst="rect">
            <a:avLst/>
          </a:prstGeom>
          <a:noFill/>
          <a:ln/>
        </p:spPr>
        <p:txBody>
          <a:bodyPr wrap="square" lIns="0" tIns="0" rIns="0" bIns="0" rtlCol="0" anchor="ctr"/>
          <a:lstStyle/>
          <a:p>
            <a:pPr indent="0" marL="0">
              <a:buNone/>
            </a:pPr>
            <a:r>
              <a:rPr lang="en-US" sz="1100" b="1" dirty="0">
                <a:solidFill>
                  <a:srgbClr val="FFFFFF"/>
                </a:solidFill>
              </a:rPr>
              <a:t>03  Sobel Gradient Fusion Block (SGFB)</a:t>
            </a:r>
            <a:endParaRPr lang="en-US" sz="1100" dirty="0"/>
          </a:p>
        </p:txBody>
      </p:sp>
      <p:sp>
        <p:nvSpPr>
          <p:cNvPr id="27" name="Text 25"/>
          <p:cNvSpPr/>
          <p:nvPr/>
        </p:nvSpPr>
        <p:spPr>
          <a:xfrm>
            <a:off x="6126480" y="2377440"/>
            <a:ext cx="2468880" cy="201168"/>
          </a:xfrm>
          <a:prstGeom prst="rect">
            <a:avLst/>
          </a:prstGeom>
          <a:noFill/>
          <a:ln/>
        </p:spPr>
        <p:txBody>
          <a:bodyPr wrap="square" lIns="0" tIns="0" rIns="0" bIns="0" rtlCol="0" anchor="ctr"/>
          <a:lstStyle/>
          <a:p>
            <a:pPr indent="0" marL="0">
              <a:buNone/>
            </a:pPr>
            <a:r>
              <a:rPr lang="en-US" sz="750" b="1" spc="150" kern="0" dirty="0">
                <a:solidFill>
                  <a:srgbClr val="D97706"/>
                </a:solidFill>
              </a:rPr>
              <a:t>WHAT IT DOES</a:t>
            </a:r>
            <a:endParaRPr lang="en-US" sz="750" dirty="0"/>
          </a:p>
        </p:txBody>
      </p:sp>
      <p:sp>
        <p:nvSpPr>
          <p:cNvPr id="28" name="Text 26"/>
          <p:cNvSpPr/>
          <p:nvPr/>
        </p:nvSpPr>
        <p:spPr>
          <a:xfrm>
            <a:off x="6126480" y="2587752"/>
            <a:ext cx="2468880" cy="960120"/>
          </a:xfrm>
          <a:prstGeom prst="rect">
            <a:avLst/>
          </a:prstGeom>
          <a:noFill/>
          <a:ln/>
        </p:spPr>
        <p:txBody>
          <a:bodyPr wrap="square" lIns="0" tIns="0" rIns="0" bIns="0" rtlCol="0" anchor="ctr"/>
          <a:lstStyle/>
          <a:p>
            <a:pPr indent="0" marL="0">
              <a:buNone/>
            </a:pPr>
            <a:r>
              <a:rPr lang="en-US" sz="950" dirty="0">
                <a:solidFill>
                  <a:srgbClr val="374151"/>
                </a:solidFill>
              </a:rPr>
              <a:t>Computes horizontal + vertical Sobel gradients from feature maps, then generates a pixel-level gating mask that upweights edge regions while a learnable scalar α balances the overall contribution.</a:t>
            </a:r>
            <a:endParaRPr lang="en-US" sz="950" dirty="0"/>
          </a:p>
        </p:txBody>
      </p:sp>
      <p:sp>
        <p:nvSpPr>
          <p:cNvPr id="29" name="Text 27"/>
          <p:cNvSpPr/>
          <p:nvPr/>
        </p:nvSpPr>
        <p:spPr>
          <a:xfrm>
            <a:off x="6126480" y="3621024"/>
            <a:ext cx="2468880" cy="201168"/>
          </a:xfrm>
          <a:prstGeom prst="rect">
            <a:avLst/>
          </a:prstGeom>
          <a:noFill/>
          <a:ln/>
        </p:spPr>
        <p:txBody>
          <a:bodyPr wrap="square" lIns="0" tIns="0" rIns="0" bIns="0" rtlCol="0" anchor="ctr"/>
          <a:lstStyle/>
          <a:p>
            <a:pPr indent="0" marL="0">
              <a:buNone/>
            </a:pPr>
            <a:r>
              <a:rPr lang="en-US" sz="750" b="1" spc="150" kern="0" dirty="0">
                <a:solidFill>
                  <a:srgbClr val="D97706"/>
                </a:solidFill>
              </a:rPr>
              <a:t>WHY IT HELPS</a:t>
            </a:r>
            <a:endParaRPr lang="en-US" sz="750" dirty="0"/>
          </a:p>
        </p:txBody>
      </p:sp>
      <p:sp>
        <p:nvSpPr>
          <p:cNvPr id="30" name="Text 28"/>
          <p:cNvSpPr/>
          <p:nvPr/>
        </p:nvSpPr>
        <p:spPr>
          <a:xfrm>
            <a:off x="6126480" y="3840480"/>
            <a:ext cx="2468880" cy="896112"/>
          </a:xfrm>
          <a:prstGeom prst="rect">
            <a:avLst/>
          </a:prstGeom>
          <a:noFill/>
          <a:ln/>
        </p:spPr>
        <p:txBody>
          <a:bodyPr wrap="square" lIns="0" tIns="0" rIns="0" bIns="0" rtlCol="0" anchor="ctr"/>
          <a:lstStyle/>
          <a:p>
            <a:pPr indent="0" marL="0">
              <a:buNone/>
            </a:pPr>
            <a:r>
              <a:rPr lang="en-US" sz="950" dirty="0">
                <a:solidFill>
                  <a:srgbClr val="374151"/>
                </a:solidFill>
              </a:rPr>
              <a:t>Scattering blurs edges. This block explicitly re-sharpens them — the model learns to push gradient energy back into boundaries that water washed away.</a:t>
            </a:r>
            <a:endParaRPr lang="en-US" sz="950" dirty="0"/>
          </a:p>
        </p:txBody>
      </p:sp>
      <p:sp>
        <p:nvSpPr>
          <p:cNvPr id="31" name="Shape 29"/>
          <p:cNvSpPr/>
          <p:nvPr/>
        </p:nvSpPr>
        <p:spPr>
          <a:xfrm>
            <a:off x="347472" y="4846320"/>
            <a:ext cx="8503920" cy="109728"/>
          </a:xfrm>
          <a:prstGeom prst="rect">
            <a:avLst/>
          </a:prstGeom>
          <a:solidFill>
            <a:srgbClr val="F3F4F6"/>
          </a:solidFill>
          <a:ln w="12700">
            <a:solidFill>
              <a:srgbClr val="D1D5DB"/>
            </a:solidFill>
            <a:prstDash val="solid"/>
          </a:ln>
        </p:spPr>
      </p:sp>
      <p:sp>
        <p:nvSpPr>
          <p:cNvPr id="32" name="Text 30"/>
          <p:cNvSpPr/>
          <p:nvPr/>
        </p:nvSpPr>
        <p:spPr>
          <a:xfrm>
            <a:off x="347472" y="4846320"/>
            <a:ext cx="8503920" cy="109728"/>
          </a:xfrm>
          <a:prstGeom prst="rect">
            <a:avLst/>
          </a:prstGeom>
          <a:noFill/>
          <a:ln/>
        </p:spPr>
        <p:txBody>
          <a:bodyPr wrap="square" lIns="0" tIns="0" rIns="0" bIns="0" rtlCol="0" anchor="ctr"/>
          <a:lstStyle/>
          <a:p>
            <a:pPr algn="ctr" indent="0" marL="0">
              <a:buNone/>
            </a:pPr>
            <a:r>
              <a:rPr lang="en-US" sz="800" dirty="0">
                <a:solidFill>
                  <a:srgbClr val="6B7280"/>
                </a:solidFill>
              </a:rPr>
              <a:t>Baseline on UFO-120:  PSNR = 28.2840 dB   |   SSIM = 0.8668   (as reported by original authors)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3557"/>
          </a:solidFill>
          <a:ln w="12700">
            <a:solidFill>
              <a:srgbClr val="1A3557"/>
            </a:solidFill>
            <a:prstDash val="solid"/>
          </a:ln>
        </p:spPr>
      </p:sp>
      <p:sp>
        <p:nvSpPr>
          <p:cNvPr id="3" name="Text 1"/>
          <p:cNvSpPr/>
          <p:nvPr/>
        </p:nvSpPr>
        <p:spPr>
          <a:xfrm>
            <a:off x="347472" y="256032"/>
            <a:ext cx="8595360" cy="256032"/>
          </a:xfrm>
          <a:prstGeom prst="rect">
            <a:avLst/>
          </a:prstGeom>
          <a:noFill/>
          <a:ln/>
        </p:spPr>
        <p:txBody>
          <a:bodyPr wrap="square" lIns="0" tIns="0" rIns="0" bIns="0" rtlCol="0" anchor="ctr"/>
          <a:lstStyle/>
          <a:p>
            <a:pPr indent="0" marL="0">
              <a:buNone/>
            </a:pPr>
            <a:r>
              <a:rPr lang="en-US" sz="850" b="1" spc="350" kern="0" dirty="0">
                <a:solidFill>
                  <a:srgbClr val="0D7A6E"/>
                </a:solidFill>
              </a:rPr>
              <a:t>MY ARCHITECTURAL CHANGES</a:t>
            </a:r>
            <a:endParaRPr lang="en-US" sz="850" dirty="0"/>
          </a:p>
        </p:txBody>
      </p:sp>
      <p:sp>
        <p:nvSpPr>
          <p:cNvPr id="4" name="Text 2"/>
          <p:cNvSpPr/>
          <p:nvPr/>
        </p:nvSpPr>
        <p:spPr>
          <a:xfrm>
            <a:off x="347472" y="502920"/>
            <a:ext cx="8595360" cy="566928"/>
          </a:xfrm>
          <a:prstGeom prst="rect">
            <a:avLst/>
          </a:prstGeom>
          <a:noFill/>
          <a:ln/>
        </p:spPr>
        <p:txBody>
          <a:bodyPr wrap="square" lIns="0" tIns="0" rIns="0" bIns="0" rtlCol="0" anchor="ctr"/>
          <a:lstStyle/>
          <a:p>
            <a:pPr indent="0" marL="0">
              <a:buNone/>
            </a:pPr>
            <a:r>
              <a:rPr lang="en-US" sz="2600" b="1" dirty="0">
                <a:solidFill>
                  <a:srgbClr val="1A3557"/>
                </a:solidFill>
              </a:rPr>
              <a:t>Three Deliberate Upgrades — and the Reasoning Behind Each</a:t>
            </a:r>
            <a:endParaRPr lang="en-US" sz="2600" dirty="0"/>
          </a:p>
        </p:txBody>
      </p:sp>
      <p:sp>
        <p:nvSpPr>
          <p:cNvPr id="5" name="Shape 3"/>
          <p:cNvSpPr/>
          <p:nvPr/>
        </p:nvSpPr>
        <p:spPr>
          <a:xfrm>
            <a:off x="347472" y="1097280"/>
            <a:ext cx="8503920" cy="0"/>
          </a:xfrm>
          <a:prstGeom prst="line">
            <a:avLst/>
          </a:prstGeom>
          <a:noFill/>
          <a:ln w="9525">
            <a:solidFill>
              <a:srgbClr val="D1D5DB"/>
            </a:solidFill>
            <a:prstDash val="solid"/>
          </a:ln>
        </p:spPr>
      </p:sp>
      <p:sp>
        <p:nvSpPr>
          <p:cNvPr id="6" name="Shape 4"/>
          <p:cNvSpPr/>
          <p:nvPr/>
        </p:nvSpPr>
        <p:spPr>
          <a:xfrm>
            <a:off x="0" y="5010912"/>
            <a:ext cx="9144000" cy="132588"/>
          </a:xfrm>
          <a:prstGeom prst="rect">
            <a:avLst/>
          </a:prstGeom>
          <a:solidFill>
            <a:srgbClr val="1A3557"/>
          </a:solidFill>
          <a:ln w="12700">
            <a:solidFill>
              <a:srgbClr val="1A3557"/>
            </a:solidFill>
            <a:prstDash val="solid"/>
          </a:ln>
        </p:spPr>
      </p:sp>
      <p:sp>
        <p:nvSpPr>
          <p:cNvPr id="7" name="Text 5"/>
          <p:cNvSpPr/>
          <p:nvPr/>
        </p:nvSpPr>
        <p:spPr>
          <a:xfrm>
            <a:off x="347472" y="5018227"/>
            <a:ext cx="7772400" cy="109728"/>
          </a:xfrm>
          <a:prstGeom prst="rect">
            <a:avLst/>
          </a:prstGeom>
          <a:noFill/>
          <a:ln/>
        </p:spPr>
        <p:txBody>
          <a:bodyPr wrap="square" lIns="0" tIns="0" rIns="0" bIns="0" rtlCol="0" anchor="ctr"/>
          <a:lstStyle/>
          <a:p>
            <a:pPr indent="0" marL="0">
              <a:buNone/>
            </a:pPr>
            <a:r>
              <a:rPr lang="en-US" sz="750" dirty="0">
                <a:solidFill>
                  <a:srgbClr val="ADBDD0"/>
                </a:solidFill>
              </a:rPr>
              <a:t>B.Dhanush  |  23bce9640  |  WWE-UIE Enhanced v2  |  UFO-120 Dataset</a:t>
            </a:r>
            <a:endParaRPr lang="en-US" sz="750" dirty="0"/>
          </a:p>
        </p:txBody>
      </p:sp>
      <p:sp>
        <p:nvSpPr>
          <p:cNvPr id="8" name="Text 6"/>
          <p:cNvSpPr/>
          <p:nvPr/>
        </p:nvSpPr>
        <p:spPr>
          <a:xfrm>
            <a:off x="8138160" y="5018227"/>
            <a:ext cx="822960" cy="109728"/>
          </a:xfrm>
          <a:prstGeom prst="rect">
            <a:avLst/>
          </a:prstGeom>
          <a:noFill/>
          <a:ln/>
        </p:spPr>
        <p:txBody>
          <a:bodyPr wrap="square" lIns="0" tIns="0" rIns="0" bIns="0" rtlCol="0" anchor="ctr"/>
          <a:lstStyle/>
          <a:p>
            <a:pPr algn="r" indent="0" marL="0">
              <a:buNone/>
            </a:pPr>
            <a:r>
              <a:rPr lang="en-US" sz="750" dirty="0">
                <a:solidFill>
                  <a:srgbClr val="ADBDD0"/>
                </a:solidFill>
              </a:rPr>
              <a:t>4 / 10</a:t>
            </a:r>
            <a:endParaRPr lang="en-US" sz="750" dirty="0"/>
          </a:p>
        </p:txBody>
      </p:sp>
      <p:sp>
        <p:nvSpPr>
          <p:cNvPr id="9" name="Text 7"/>
          <p:cNvSpPr/>
          <p:nvPr/>
        </p:nvSpPr>
        <p:spPr>
          <a:xfrm>
            <a:off x="347472" y="1170432"/>
            <a:ext cx="8503920" cy="411480"/>
          </a:xfrm>
          <a:prstGeom prst="rect">
            <a:avLst/>
          </a:prstGeom>
          <a:noFill/>
          <a:ln/>
        </p:spPr>
        <p:txBody>
          <a:bodyPr wrap="square" lIns="0" tIns="0" rIns="0" bIns="0" rtlCol="0" anchor="ctr"/>
          <a:lstStyle/>
          <a:p>
            <a:pPr indent="0" marL="0">
              <a:buNone/>
            </a:pPr>
            <a:r>
              <a:rPr lang="en-US" sz="1100" i="1" dirty="0">
                <a:solidFill>
                  <a:srgbClr val="374151"/>
                </a:solidFill>
              </a:rPr>
              <a:t>I didn't change things at random. Each modification targets a specific weakness I observed in the original architecture after studying both the paper and the source code closely.</a:t>
            </a:r>
            <a:endParaRPr lang="en-US" sz="1100" dirty="0"/>
          </a:p>
        </p:txBody>
      </p:sp>
      <p:sp>
        <p:nvSpPr>
          <p:cNvPr id="10" name="Shape 8"/>
          <p:cNvSpPr/>
          <p:nvPr/>
        </p:nvSpPr>
        <p:spPr>
          <a:xfrm>
            <a:off x="347472" y="1645920"/>
            <a:ext cx="8503920" cy="960120"/>
          </a:xfrm>
          <a:prstGeom prst="rect">
            <a:avLst/>
          </a:prstGeom>
          <a:solidFill>
            <a:srgbClr val="E6F4F2"/>
          </a:solidFill>
          <a:ln w="6350">
            <a:solidFill>
              <a:srgbClr val="D1D5DB"/>
            </a:solidFill>
            <a:prstDash val="solid"/>
          </a:ln>
        </p:spPr>
      </p:sp>
      <p:sp>
        <p:nvSpPr>
          <p:cNvPr id="11" name="Shape 9"/>
          <p:cNvSpPr/>
          <p:nvPr/>
        </p:nvSpPr>
        <p:spPr>
          <a:xfrm>
            <a:off x="347472" y="1645920"/>
            <a:ext cx="91440" cy="960120"/>
          </a:xfrm>
          <a:prstGeom prst="rect">
            <a:avLst/>
          </a:prstGeom>
          <a:solidFill>
            <a:srgbClr val="0D7A6E"/>
          </a:solidFill>
          <a:ln w="12700">
            <a:solidFill>
              <a:srgbClr val="0D7A6E"/>
            </a:solidFill>
            <a:prstDash val="solid"/>
          </a:ln>
        </p:spPr>
      </p:sp>
      <p:sp>
        <p:nvSpPr>
          <p:cNvPr id="12" name="Text 10"/>
          <p:cNvSpPr/>
          <p:nvPr/>
        </p:nvSpPr>
        <p:spPr>
          <a:xfrm>
            <a:off x="530352" y="1719072"/>
            <a:ext cx="8138160" cy="274320"/>
          </a:xfrm>
          <a:prstGeom prst="rect">
            <a:avLst/>
          </a:prstGeom>
          <a:noFill/>
          <a:ln/>
        </p:spPr>
        <p:txBody>
          <a:bodyPr wrap="square" lIns="0" tIns="0" rIns="0" bIns="0" rtlCol="0" anchor="ctr"/>
          <a:lstStyle/>
          <a:p>
            <a:pPr indent="0" marL="0">
              <a:buNone/>
            </a:pPr>
            <a:r>
              <a:rPr lang="en-US" sz="1250" b="1" dirty="0">
                <a:solidFill>
                  <a:srgbClr val="1A3557"/>
                </a:solidFill>
              </a:rPr>
              <a:t>01  Deeper U-Net:  2 Levels  →  3 Levels</a:t>
            </a:r>
            <a:endParaRPr lang="en-US" sz="1250" dirty="0"/>
          </a:p>
        </p:txBody>
      </p:sp>
      <p:sp>
        <p:nvSpPr>
          <p:cNvPr id="13" name="Text 11"/>
          <p:cNvSpPr/>
          <p:nvPr/>
        </p:nvSpPr>
        <p:spPr>
          <a:xfrm>
            <a:off x="530352" y="2029968"/>
            <a:ext cx="2697480" cy="164592"/>
          </a:xfrm>
          <a:prstGeom prst="rect">
            <a:avLst/>
          </a:prstGeom>
          <a:noFill/>
          <a:ln/>
        </p:spPr>
        <p:txBody>
          <a:bodyPr wrap="square" lIns="0" tIns="0" rIns="0" bIns="0" rtlCol="0" anchor="ctr"/>
          <a:lstStyle/>
          <a:p>
            <a:pPr indent="0" marL="0">
              <a:buNone/>
            </a:pPr>
            <a:r>
              <a:rPr lang="en-US" sz="700" b="1" spc="100" kern="0" dirty="0">
                <a:solidFill>
                  <a:srgbClr val="0D7A6E"/>
                </a:solidFill>
              </a:rPr>
              <a:t>THE PROBLEM</a:t>
            </a:r>
            <a:endParaRPr lang="en-US" sz="700" dirty="0"/>
          </a:p>
        </p:txBody>
      </p:sp>
      <p:sp>
        <p:nvSpPr>
          <p:cNvPr id="14" name="Text 12"/>
          <p:cNvSpPr/>
          <p:nvPr/>
        </p:nvSpPr>
        <p:spPr>
          <a:xfrm>
            <a:off x="530352" y="2194560"/>
            <a:ext cx="2697480" cy="347472"/>
          </a:xfrm>
          <a:prstGeom prst="rect">
            <a:avLst/>
          </a:prstGeom>
          <a:noFill/>
          <a:ln/>
        </p:spPr>
        <p:txBody>
          <a:bodyPr wrap="square" lIns="0" tIns="0" rIns="0" bIns="0" rtlCol="0" anchor="ctr"/>
          <a:lstStyle/>
          <a:p>
            <a:pPr indent="0" marL="0">
              <a:buNone/>
            </a:pPr>
            <a:r>
              <a:rPr lang="en-US" sz="850" dirty="0">
                <a:solidFill>
                  <a:srgbClr val="374151"/>
                </a:solidFill>
              </a:rPr>
              <a:t>The 2-level U-Net could only "see" a limited area of the image at once. Severe color casts — like a full-frame green haze — are global phenomena that require a wide field of view to understand and correct.</a:t>
            </a:r>
            <a:endParaRPr lang="en-US" sz="850" dirty="0"/>
          </a:p>
        </p:txBody>
      </p:sp>
      <p:sp>
        <p:nvSpPr>
          <p:cNvPr id="15" name="Text 13"/>
          <p:cNvSpPr/>
          <p:nvPr/>
        </p:nvSpPr>
        <p:spPr>
          <a:xfrm>
            <a:off x="3337560" y="2029968"/>
            <a:ext cx="2697480" cy="164592"/>
          </a:xfrm>
          <a:prstGeom prst="rect">
            <a:avLst/>
          </a:prstGeom>
          <a:noFill/>
          <a:ln/>
        </p:spPr>
        <p:txBody>
          <a:bodyPr wrap="square" lIns="0" tIns="0" rIns="0" bIns="0" rtlCol="0" anchor="ctr"/>
          <a:lstStyle/>
          <a:p>
            <a:pPr indent="0" marL="0">
              <a:buNone/>
            </a:pPr>
            <a:r>
              <a:rPr lang="en-US" sz="700" b="1" spc="100" kern="0" dirty="0">
                <a:solidFill>
                  <a:srgbClr val="0D7A6E"/>
                </a:solidFill>
              </a:rPr>
              <a:t>WHAT I CHANGED</a:t>
            </a:r>
            <a:endParaRPr lang="en-US" sz="700" dirty="0"/>
          </a:p>
        </p:txBody>
      </p:sp>
      <p:sp>
        <p:nvSpPr>
          <p:cNvPr id="16" name="Text 14"/>
          <p:cNvSpPr/>
          <p:nvPr/>
        </p:nvSpPr>
        <p:spPr>
          <a:xfrm>
            <a:off x="3337560" y="2194560"/>
            <a:ext cx="2697480" cy="347472"/>
          </a:xfrm>
          <a:prstGeom prst="rect">
            <a:avLst/>
          </a:prstGeom>
          <a:noFill/>
          <a:ln/>
        </p:spPr>
        <p:txBody>
          <a:bodyPr wrap="square" lIns="0" tIns="0" rIns="0" bIns="0" rtlCol="0" anchor="ctr"/>
          <a:lstStyle/>
          <a:p>
            <a:pPr indent="0" marL="0">
              <a:buNone/>
            </a:pPr>
            <a:r>
              <a:rPr lang="en-US" sz="850" dirty="0">
                <a:solidFill>
                  <a:srgbClr val="374151"/>
                </a:solidFill>
              </a:rPr>
              <a:t>I added a complete encoder–decoder level, increasing the maximum receptive field significantly. The network can now "step back" and look at the entire image before deciding how to correct any single pixel.</a:t>
            </a:r>
            <a:endParaRPr lang="en-US" sz="850" dirty="0"/>
          </a:p>
        </p:txBody>
      </p:sp>
      <p:sp>
        <p:nvSpPr>
          <p:cNvPr id="17" name="Text 15"/>
          <p:cNvSpPr/>
          <p:nvPr/>
        </p:nvSpPr>
        <p:spPr>
          <a:xfrm>
            <a:off x="6144768" y="2029968"/>
            <a:ext cx="2697480" cy="164592"/>
          </a:xfrm>
          <a:prstGeom prst="rect">
            <a:avLst/>
          </a:prstGeom>
          <a:noFill/>
          <a:ln/>
        </p:spPr>
        <p:txBody>
          <a:bodyPr wrap="square" lIns="0" tIns="0" rIns="0" bIns="0" rtlCol="0" anchor="ctr"/>
          <a:lstStyle/>
          <a:p>
            <a:pPr indent="0" marL="0">
              <a:buNone/>
            </a:pPr>
            <a:r>
              <a:rPr lang="en-US" sz="700" b="1" spc="100" kern="0" dirty="0">
                <a:solidFill>
                  <a:srgbClr val="0D7A6E"/>
                </a:solidFill>
              </a:rPr>
              <a:t>OBSERVED EFFECT</a:t>
            </a:r>
            <a:endParaRPr lang="en-US" sz="700" dirty="0"/>
          </a:p>
        </p:txBody>
      </p:sp>
      <p:sp>
        <p:nvSpPr>
          <p:cNvPr id="18" name="Text 16"/>
          <p:cNvSpPr/>
          <p:nvPr/>
        </p:nvSpPr>
        <p:spPr>
          <a:xfrm>
            <a:off x="6144768" y="2194560"/>
            <a:ext cx="2697480" cy="347472"/>
          </a:xfrm>
          <a:prstGeom prst="rect">
            <a:avLst/>
          </a:prstGeom>
          <a:noFill/>
          <a:ln/>
        </p:spPr>
        <p:txBody>
          <a:bodyPr wrap="square" lIns="0" tIns="0" rIns="0" bIns="0" rtlCol="0" anchor="ctr"/>
          <a:lstStyle/>
          <a:p>
            <a:pPr indent="0" marL="0">
              <a:buNone/>
            </a:pPr>
            <a:r>
              <a:rPr lang="en-US" sz="850" dirty="0">
                <a:solidFill>
                  <a:srgbClr val="374151"/>
                </a:solidFill>
              </a:rPr>
              <a:t>Improved global color consistency. The model no longer patches color locally; it reasons about the scene as a whole.</a:t>
            </a:r>
            <a:endParaRPr lang="en-US" sz="850" dirty="0"/>
          </a:p>
        </p:txBody>
      </p:sp>
      <p:sp>
        <p:nvSpPr>
          <p:cNvPr id="19" name="Shape 17"/>
          <p:cNvSpPr/>
          <p:nvPr/>
        </p:nvSpPr>
        <p:spPr>
          <a:xfrm>
            <a:off x="347472" y="2697480"/>
            <a:ext cx="8503920" cy="960120"/>
          </a:xfrm>
          <a:prstGeom prst="rect">
            <a:avLst/>
          </a:prstGeom>
          <a:solidFill>
            <a:srgbClr val="E3F4FB"/>
          </a:solidFill>
          <a:ln w="6350">
            <a:solidFill>
              <a:srgbClr val="D1D5DB"/>
            </a:solidFill>
            <a:prstDash val="solid"/>
          </a:ln>
        </p:spPr>
      </p:sp>
      <p:sp>
        <p:nvSpPr>
          <p:cNvPr id="20" name="Shape 18"/>
          <p:cNvSpPr/>
          <p:nvPr/>
        </p:nvSpPr>
        <p:spPr>
          <a:xfrm>
            <a:off x="347472" y="2697480"/>
            <a:ext cx="91440" cy="960120"/>
          </a:xfrm>
          <a:prstGeom prst="rect">
            <a:avLst/>
          </a:prstGeom>
          <a:solidFill>
            <a:srgbClr val="2196C9"/>
          </a:solidFill>
          <a:ln w="12700">
            <a:solidFill>
              <a:srgbClr val="2196C9"/>
            </a:solidFill>
            <a:prstDash val="solid"/>
          </a:ln>
        </p:spPr>
      </p:sp>
      <p:sp>
        <p:nvSpPr>
          <p:cNvPr id="21" name="Text 19"/>
          <p:cNvSpPr/>
          <p:nvPr/>
        </p:nvSpPr>
        <p:spPr>
          <a:xfrm>
            <a:off x="530352" y="2770632"/>
            <a:ext cx="8138160" cy="274320"/>
          </a:xfrm>
          <a:prstGeom prst="rect">
            <a:avLst/>
          </a:prstGeom>
          <a:noFill/>
          <a:ln/>
        </p:spPr>
        <p:txBody>
          <a:bodyPr wrap="square" lIns="0" tIns="0" rIns="0" bIns="0" rtlCol="0" anchor="ctr"/>
          <a:lstStyle/>
          <a:p>
            <a:pPr indent="0" marL="0">
              <a:buNone/>
            </a:pPr>
            <a:r>
              <a:rPr lang="en-US" sz="1250" b="1" dirty="0">
                <a:solidFill>
                  <a:srgbClr val="1A3557"/>
                </a:solidFill>
              </a:rPr>
              <a:t>02  Wider Channels:  32  →  48  (+ 65% Capacity)</a:t>
            </a:r>
            <a:endParaRPr lang="en-US" sz="1250" dirty="0"/>
          </a:p>
        </p:txBody>
      </p:sp>
      <p:sp>
        <p:nvSpPr>
          <p:cNvPr id="22" name="Text 20"/>
          <p:cNvSpPr/>
          <p:nvPr/>
        </p:nvSpPr>
        <p:spPr>
          <a:xfrm>
            <a:off x="530352" y="3081528"/>
            <a:ext cx="2697480" cy="164592"/>
          </a:xfrm>
          <a:prstGeom prst="rect">
            <a:avLst/>
          </a:prstGeom>
          <a:noFill/>
          <a:ln/>
        </p:spPr>
        <p:txBody>
          <a:bodyPr wrap="square" lIns="0" tIns="0" rIns="0" bIns="0" rtlCol="0" anchor="ctr"/>
          <a:lstStyle/>
          <a:p>
            <a:pPr indent="0" marL="0">
              <a:buNone/>
            </a:pPr>
            <a:r>
              <a:rPr lang="en-US" sz="700" b="1" spc="100" kern="0" dirty="0">
                <a:solidFill>
                  <a:srgbClr val="2196C9"/>
                </a:solidFill>
              </a:rPr>
              <a:t>THE PROBLEM</a:t>
            </a:r>
            <a:endParaRPr lang="en-US" sz="700" dirty="0"/>
          </a:p>
        </p:txBody>
      </p:sp>
      <p:sp>
        <p:nvSpPr>
          <p:cNvPr id="23" name="Text 21"/>
          <p:cNvSpPr/>
          <p:nvPr/>
        </p:nvSpPr>
        <p:spPr>
          <a:xfrm>
            <a:off x="530352" y="3246120"/>
            <a:ext cx="2697480" cy="347472"/>
          </a:xfrm>
          <a:prstGeom prst="rect">
            <a:avLst/>
          </a:prstGeom>
          <a:noFill/>
          <a:ln/>
        </p:spPr>
        <p:txBody>
          <a:bodyPr wrap="square" lIns="0" tIns="0" rIns="0" bIns="0" rtlCol="0" anchor="ctr"/>
          <a:lstStyle/>
          <a:p>
            <a:pPr indent="0" marL="0">
              <a:buNone/>
            </a:pPr>
            <a:r>
              <a:rPr lang="en-US" sz="850" dirty="0">
                <a:solidFill>
                  <a:srgbClr val="374151"/>
                </a:solidFill>
              </a:rPr>
              <a:t>At 32 channels, the model was effectively forced to compress all color, texture, and structural information into a very tight bottleneck. Fine details — fish scales, coral micro-texture, delicate strands — got squeezed out.</a:t>
            </a:r>
            <a:endParaRPr lang="en-US" sz="850" dirty="0"/>
          </a:p>
        </p:txBody>
      </p:sp>
      <p:sp>
        <p:nvSpPr>
          <p:cNvPr id="24" name="Text 22"/>
          <p:cNvSpPr/>
          <p:nvPr/>
        </p:nvSpPr>
        <p:spPr>
          <a:xfrm>
            <a:off x="3337560" y="3081528"/>
            <a:ext cx="2697480" cy="164592"/>
          </a:xfrm>
          <a:prstGeom prst="rect">
            <a:avLst/>
          </a:prstGeom>
          <a:noFill/>
          <a:ln/>
        </p:spPr>
        <p:txBody>
          <a:bodyPr wrap="square" lIns="0" tIns="0" rIns="0" bIns="0" rtlCol="0" anchor="ctr"/>
          <a:lstStyle/>
          <a:p>
            <a:pPr indent="0" marL="0">
              <a:buNone/>
            </a:pPr>
            <a:r>
              <a:rPr lang="en-US" sz="700" b="1" spc="100" kern="0" dirty="0">
                <a:solidFill>
                  <a:srgbClr val="2196C9"/>
                </a:solidFill>
              </a:rPr>
              <a:t>WHAT I CHANGED</a:t>
            </a:r>
            <a:endParaRPr lang="en-US" sz="700" dirty="0"/>
          </a:p>
        </p:txBody>
      </p:sp>
      <p:sp>
        <p:nvSpPr>
          <p:cNvPr id="25" name="Text 23"/>
          <p:cNvSpPr/>
          <p:nvPr/>
        </p:nvSpPr>
        <p:spPr>
          <a:xfrm>
            <a:off x="3337560" y="3246120"/>
            <a:ext cx="2697480" cy="347472"/>
          </a:xfrm>
          <a:prstGeom prst="rect">
            <a:avLst/>
          </a:prstGeom>
          <a:noFill/>
          <a:ln/>
        </p:spPr>
        <p:txBody>
          <a:bodyPr wrap="square" lIns="0" tIns="0" rIns="0" bIns="0" rtlCol="0" anchor="ctr"/>
          <a:lstStyle/>
          <a:p>
            <a:pPr indent="0" marL="0">
              <a:buNone/>
            </a:pPr>
            <a:r>
              <a:rPr lang="en-US" sz="850" dirty="0">
                <a:solidFill>
                  <a:srgbClr val="374151"/>
                </a:solidFill>
              </a:rPr>
              <a:t>I increased base feature channels to 48, injecting 65% more representational capacity at every convolutional layer. This gives each layer more "slots" to remember fine-grained detail as the signal flows through the network.</a:t>
            </a:r>
            <a:endParaRPr lang="en-US" sz="850" dirty="0"/>
          </a:p>
        </p:txBody>
      </p:sp>
      <p:sp>
        <p:nvSpPr>
          <p:cNvPr id="26" name="Text 24"/>
          <p:cNvSpPr/>
          <p:nvPr/>
        </p:nvSpPr>
        <p:spPr>
          <a:xfrm>
            <a:off x="6144768" y="3081528"/>
            <a:ext cx="2697480" cy="164592"/>
          </a:xfrm>
          <a:prstGeom prst="rect">
            <a:avLst/>
          </a:prstGeom>
          <a:noFill/>
          <a:ln/>
        </p:spPr>
        <p:txBody>
          <a:bodyPr wrap="square" lIns="0" tIns="0" rIns="0" bIns="0" rtlCol="0" anchor="ctr"/>
          <a:lstStyle/>
          <a:p>
            <a:pPr indent="0" marL="0">
              <a:buNone/>
            </a:pPr>
            <a:r>
              <a:rPr lang="en-US" sz="700" b="1" spc="100" kern="0" dirty="0">
                <a:solidFill>
                  <a:srgbClr val="2196C9"/>
                </a:solidFill>
              </a:rPr>
              <a:t>OBSERVED EFFECT</a:t>
            </a:r>
            <a:endParaRPr lang="en-US" sz="700" dirty="0"/>
          </a:p>
        </p:txBody>
      </p:sp>
      <p:sp>
        <p:nvSpPr>
          <p:cNvPr id="27" name="Text 25"/>
          <p:cNvSpPr/>
          <p:nvPr/>
        </p:nvSpPr>
        <p:spPr>
          <a:xfrm>
            <a:off x="6144768" y="3246120"/>
            <a:ext cx="2697480" cy="347472"/>
          </a:xfrm>
          <a:prstGeom prst="rect">
            <a:avLst/>
          </a:prstGeom>
          <a:noFill/>
          <a:ln/>
        </p:spPr>
        <p:txBody>
          <a:bodyPr wrap="square" lIns="0" tIns="0" rIns="0" bIns="0" rtlCol="0" anchor="ctr"/>
          <a:lstStyle/>
          <a:p>
            <a:pPr indent="0" marL="0">
              <a:buNone/>
            </a:pPr>
            <a:r>
              <a:rPr lang="en-US" sz="850" dirty="0">
                <a:solidFill>
                  <a:srgbClr val="374151"/>
                </a:solidFill>
              </a:rPr>
              <a:t>Noticeably sharper texture restoration in the output — particularly visible in dense coral scenes and fish surface detail.</a:t>
            </a:r>
            <a:endParaRPr lang="en-US" sz="850" dirty="0"/>
          </a:p>
        </p:txBody>
      </p:sp>
      <p:sp>
        <p:nvSpPr>
          <p:cNvPr id="28" name="Shape 26"/>
          <p:cNvSpPr/>
          <p:nvPr/>
        </p:nvSpPr>
        <p:spPr>
          <a:xfrm>
            <a:off x="347472" y="3749040"/>
            <a:ext cx="8503920" cy="960120"/>
          </a:xfrm>
          <a:prstGeom prst="rect">
            <a:avLst/>
          </a:prstGeom>
          <a:solidFill>
            <a:srgbClr val="FEF3C7"/>
          </a:solidFill>
          <a:ln w="6350">
            <a:solidFill>
              <a:srgbClr val="D1D5DB"/>
            </a:solidFill>
            <a:prstDash val="solid"/>
          </a:ln>
        </p:spPr>
      </p:sp>
      <p:sp>
        <p:nvSpPr>
          <p:cNvPr id="29" name="Shape 27"/>
          <p:cNvSpPr/>
          <p:nvPr/>
        </p:nvSpPr>
        <p:spPr>
          <a:xfrm>
            <a:off x="347472" y="3749040"/>
            <a:ext cx="91440" cy="960120"/>
          </a:xfrm>
          <a:prstGeom prst="rect">
            <a:avLst/>
          </a:prstGeom>
          <a:solidFill>
            <a:srgbClr val="D97706"/>
          </a:solidFill>
          <a:ln w="12700">
            <a:solidFill>
              <a:srgbClr val="D97706"/>
            </a:solidFill>
            <a:prstDash val="solid"/>
          </a:ln>
        </p:spPr>
      </p:sp>
      <p:sp>
        <p:nvSpPr>
          <p:cNvPr id="30" name="Text 28"/>
          <p:cNvSpPr/>
          <p:nvPr/>
        </p:nvSpPr>
        <p:spPr>
          <a:xfrm>
            <a:off x="530352" y="3822192"/>
            <a:ext cx="8138160" cy="274320"/>
          </a:xfrm>
          <a:prstGeom prst="rect">
            <a:avLst/>
          </a:prstGeom>
          <a:noFill/>
          <a:ln/>
        </p:spPr>
        <p:txBody>
          <a:bodyPr wrap="square" lIns="0" tIns="0" rIns="0" bIns="0" rtlCol="0" anchor="ctr"/>
          <a:lstStyle/>
          <a:p>
            <a:pPr indent="0" marL="0">
              <a:buNone/>
            </a:pPr>
            <a:r>
              <a:rPr lang="en-US" sz="1250" b="1" dirty="0">
                <a:solidFill>
                  <a:srgbClr val="1A3557"/>
                </a:solidFill>
              </a:rPr>
              <a:t>03  SE Channel Attention — The Key Innovation</a:t>
            </a:r>
            <a:endParaRPr lang="en-US" sz="1250" dirty="0"/>
          </a:p>
        </p:txBody>
      </p:sp>
      <p:sp>
        <p:nvSpPr>
          <p:cNvPr id="31" name="Text 29"/>
          <p:cNvSpPr/>
          <p:nvPr/>
        </p:nvSpPr>
        <p:spPr>
          <a:xfrm>
            <a:off x="530352" y="4133088"/>
            <a:ext cx="2697480" cy="164592"/>
          </a:xfrm>
          <a:prstGeom prst="rect">
            <a:avLst/>
          </a:prstGeom>
          <a:noFill/>
          <a:ln/>
        </p:spPr>
        <p:txBody>
          <a:bodyPr wrap="square" lIns="0" tIns="0" rIns="0" bIns="0" rtlCol="0" anchor="ctr"/>
          <a:lstStyle/>
          <a:p>
            <a:pPr indent="0" marL="0">
              <a:buNone/>
            </a:pPr>
            <a:r>
              <a:rPr lang="en-US" sz="700" b="1" spc="100" kern="0" dirty="0">
                <a:solidFill>
                  <a:srgbClr val="D97706"/>
                </a:solidFill>
              </a:rPr>
              <a:t>THE PROBLEM</a:t>
            </a:r>
            <a:endParaRPr lang="en-US" sz="700" dirty="0"/>
          </a:p>
        </p:txBody>
      </p:sp>
      <p:sp>
        <p:nvSpPr>
          <p:cNvPr id="32" name="Text 30"/>
          <p:cNvSpPr/>
          <p:nvPr/>
        </p:nvSpPr>
        <p:spPr>
          <a:xfrm>
            <a:off x="530352" y="4297680"/>
            <a:ext cx="2697480" cy="420000"/>
          </a:xfrm>
          <a:prstGeom prst="rect">
            <a:avLst/>
          </a:prstGeom>
          <a:noFill/>
          <a:ln/>
        </p:spPr>
        <p:txBody>
          <a:bodyPr wrap="square" lIns="0" tIns="0" rIns="0" bIns="0" rtlCol="0" anchor="t"/>
          <a:lstStyle/>
          <a:p>
            <a:pPr indent="0" marL="0">
              <a:buNone/>
            </a:pPr>
            <a:r>
              <a:rPr lang="en-US" sz="800" dirty="0">
                <a:solidFill>
                  <a:srgbClr val="374151"/>
                </a:solidFill>
              </a:rPr>
              <a:t>WEB and SGFB treat all feature channels with equal weight — even though some carry edge data and others carry color gradients. Equal treatment prevents the model from prioritizing what matters most.</a:t>
            </a:r>
            <a:endParaRPr lang="en-US" sz="850" dirty="0"/>
          </a:p>
        </p:txBody>
      </p:sp>
      <p:sp>
        <p:nvSpPr>
          <p:cNvPr id="33" name="Text 31"/>
          <p:cNvSpPr/>
          <p:nvPr/>
        </p:nvSpPr>
        <p:spPr>
          <a:xfrm>
            <a:off x="3337560" y="4133088"/>
            <a:ext cx="2697480" cy="164592"/>
          </a:xfrm>
          <a:prstGeom prst="rect">
            <a:avLst/>
          </a:prstGeom>
          <a:noFill/>
          <a:ln/>
        </p:spPr>
        <p:txBody>
          <a:bodyPr wrap="square" lIns="0" tIns="0" rIns="0" bIns="0" rtlCol="0" anchor="ctr"/>
          <a:lstStyle/>
          <a:p>
            <a:pPr indent="0" marL="0">
              <a:buNone/>
            </a:pPr>
            <a:r>
              <a:rPr lang="en-US" sz="700" b="1" spc="100" kern="0" dirty="0">
                <a:solidFill>
                  <a:srgbClr val="D97706"/>
                </a:solidFill>
              </a:rPr>
              <a:t>WHAT I CHANGED</a:t>
            </a:r>
            <a:endParaRPr lang="en-US" sz="700" dirty="0"/>
          </a:p>
        </p:txBody>
      </p:sp>
      <p:sp>
        <p:nvSpPr>
          <p:cNvPr id="34" name="Text 32"/>
          <p:cNvSpPr/>
          <p:nvPr/>
        </p:nvSpPr>
        <p:spPr>
          <a:xfrm>
            <a:off x="3337560" y="4297680"/>
            <a:ext cx="2697480" cy="420000"/>
          </a:xfrm>
          <a:prstGeom prst="rect">
            <a:avLst/>
          </a:prstGeom>
          <a:noFill/>
          <a:ln/>
        </p:spPr>
        <p:txBody>
          <a:bodyPr wrap="square" lIns="0" tIns="0" rIns="0" bIns="0" rtlCol="0" anchor="t"/>
          <a:lstStyle/>
          <a:p>
            <a:pPr indent="0" marL="0">
              <a:buNone/>
            </a:pPr>
            <a:r>
              <a:rPr lang="en-US" sz="800" dirty="0">
                <a:solidFill>
                  <a:srgbClr val="374151"/>
                </a:solidFill>
              </a:rPr>
              <a:t>A Squeeze-and-Excitation (SE) block was inserted between WEB and SGFB. It pools each channel globally, passes through two FC layers with sigmoid, and re-scales each channel — attention learned from data.</a:t>
            </a:r>
            <a:endParaRPr lang="en-US" sz="850" dirty="0"/>
          </a:p>
        </p:txBody>
      </p:sp>
      <p:sp>
        <p:nvSpPr>
          <p:cNvPr id="35" name="Text 33"/>
          <p:cNvSpPr/>
          <p:nvPr/>
        </p:nvSpPr>
        <p:spPr>
          <a:xfrm>
            <a:off x="6144768" y="4133088"/>
            <a:ext cx="2697480" cy="164592"/>
          </a:xfrm>
          <a:prstGeom prst="rect">
            <a:avLst/>
          </a:prstGeom>
          <a:noFill/>
          <a:ln/>
        </p:spPr>
        <p:txBody>
          <a:bodyPr wrap="square" lIns="0" tIns="0" rIns="0" bIns="0" rtlCol="0" anchor="ctr"/>
          <a:lstStyle/>
          <a:p>
            <a:pPr indent="0" marL="0">
              <a:buNone/>
            </a:pPr>
            <a:r>
              <a:rPr lang="en-US" sz="700" b="1" spc="100" kern="0" dirty="0">
                <a:solidFill>
                  <a:srgbClr val="D97706"/>
                </a:solidFill>
              </a:rPr>
              <a:t>OBSERVED EFFECT</a:t>
            </a:r>
            <a:endParaRPr lang="en-US" sz="700" dirty="0"/>
          </a:p>
        </p:txBody>
      </p:sp>
      <p:sp>
        <p:nvSpPr>
          <p:cNvPr id="36" name="Text 34"/>
          <p:cNvSpPr/>
          <p:nvPr/>
        </p:nvSpPr>
        <p:spPr>
          <a:xfrm>
            <a:off x="6144768" y="4297680"/>
            <a:ext cx="2697480" cy="420000"/>
          </a:xfrm>
          <a:prstGeom prst="rect">
            <a:avLst/>
          </a:prstGeom>
          <a:noFill/>
          <a:ln/>
        </p:spPr>
        <p:txBody>
          <a:bodyPr wrap="square" lIns="0" tIns="0" rIns="0" bIns="0" rtlCol="0" anchor="t"/>
          <a:lstStyle/>
          <a:p>
            <a:pPr indent="0" marL="0">
              <a:buNone/>
            </a:pPr>
            <a:r>
              <a:rPr lang="en-US" sz="800" dirty="0">
                <a:solidFill>
                  <a:srgbClr val="374151"/>
                </a:solidFill>
              </a:rPr>
              <a:t>The model now automatically focuses on structurally meaningful channels. This is the single biggest driver of the SSIM improvement.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3557"/>
          </a:solidFill>
          <a:ln w="12700">
            <a:solidFill>
              <a:srgbClr val="1A3557"/>
            </a:solidFill>
            <a:prstDash val="solid"/>
          </a:ln>
        </p:spPr>
      </p:sp>
      <p:sp>
        <p:nvSpPr>
          <p:cNvPr id="3" name="Text 1"/>
          <p:cNvSpPr/>
          <p:nvPr/>
        </p:nvSpPr>
        <p:spPr>
          <a:xfrm>
            <a:off x="347472" y="256032"/>
            <a:ext cx="8595360" cy="256032"/>
          </a:xfrm>
          <a:prstGeom prst="rect">
            <a:avLst/>
          </a:prstGeom>
          <a:noFill/>
          <a:ln/>
        </p:spPr>
        <p:txBody>
          <a:bodyPr wrap="square" lIns="0" tIns="0" rIns="0" bIns="0" rtlCol="0" anchor="ctr"/>
          <a:lstStyle/>
          <a:p>
            <a:pPr indent="0" marL="0">
              <a:buNone/>
            </a:pPr>
            <a:r>
              <a:rPr lang="en-US" sz="850" b="1" spc="350" kern="0" dirty="0">
                <a:solidFill>
                  <a:srgbClr val="0D7A6E"/>
                </a:solidFill>
              </a:rPr>
              <a:t>TRAINING CONFIGURATION</a:t>
            </a:r>
            <a:endParaRPr lang="en-US" sz="850" dirty="0"/>
          </a:p>
        </p:txBody>
      </p:sp>
      <p:sp>
        <p:nvSpPr>
          <p:cNvPr id="4" name="Text 2"/>
          <p:cNvSpPr/>
          <p:nvPr/>
        </p:nvSpPr>
        <p:spPr>
          <a:xfrm>
            <a:off x="347472" y="502920"/>
            <a:ext cx="8595360" cy="566928"/>
          </a:xfrm>
          <a:prstGeom prst="rect">
            <a:avLst/>
          </a:prstGeom>
          <a:noFill/>
          <a:ln/>
        </p:spPr>
        <p:txBody>
          <a:bodyPr wrap="square" lIns="0" tIns="0" rIns="0" bIns="0" rtlCol="0" anchor="ctr"/>
          <a:lstStyle/>
          <a:p>
            <a:pPr indent="0" marL="0">
              <a:buNone/>
            </a:pPr>
            <a:r>
              <a:rPr lang="en-US" sz="2600" b="1" dirty="0">
                <a:solidFill>
                  <a:srgbClr val="1A3557"/>
                </a:solidFill>
              </a:rPr>
              <a:t>How I Trained the Model — and What Went Wrong First</a:t>
            </a:r>
            <a:endParaRPr lang="en-US" sz="2600" dirty="0"/>
          </a:p>
        </p:txBody>
      </p:sp>
      <p:sp>
        <p:nvSpPr>
          <p:cNvPr id="5" name="Shape 3"/>
          <p:cNvSpPr/>
          <p:nvPr/>
        </p:nvSpPr>
        <p:spPr>
          <a:xfrm>
            <a:off x="347472" y="1097280"/>
            <a:ext cx="8503920" cy="0"/>
          </a:xfrm>
          <a:prstGeom prst="line">
            <a:avLst/>
          </a:prstGeom>
          <a:noFill/>
          <a:ln w="9525">
            <a:solidFill>
              <a:srgbClr val="D1D5DB"/>
            </a:solidFill>
            <a:prstDash val="solid"/>
          </a:ln>
        </p:spPr>
      </p:sp>
      <p:sp>
        <p:nvSpPr>
          <p:cNvPr id="6" name="Shape 4"/>
          <p:cNvSpPr/>
          <p:nvPr/>
        </p:nvSpPr>
        <p:spPr>
          <a:xfrm>
            <a:off x="0" y="5010912"/>
            <a:ext cx="9144000" cy="132588"/>
          </a:xfrm>
          <a:prstGeom prst="rect">
            <a:avLst/>
          </a:prstGeom>
          <a:solidFill>
            <a:srgbClr val="1A3557"/>
          </a:solidFill>
          <a:ln w="12700">
            <a:solidFill>
              <a:srgbClr val="1A3557"/>
            </a:solidFill>
            <a:prstDash val="solid"/>
          </a:ln>
        </p:spPr>
      </p:sp>
      <p:sp>
        <p:nvSpPr>
          <p:cNvPr id="7" name="Text 5"/>
          <p:cNvSpPr/>
          <p:nvPr/>
        </p:nvSpPr>
        <p:spPr>
          <a:xfrm>
            <a:off x="347472" y="5018227"/>
            <a:ext cx="7772400" cy="109728"/>
          </a:xfrm>
          <a:prstGeom prst="rect">
            <a:avLst/>
          </a:prstGeom>
          <a:noFill/>
          <a:ln/>
        </p:spPr>
        <p:txBody>
          <a:bodyPr wrap="square" lIns="0" tIns="0" rIns="0" bIns="0" rtlCol="0" anchor="ctr"/>
          <a:lstStyle/>
          <a:p>
            <a:pPr indent="0" marL="0">
              <a:buNone/>
            </a:pPr>
            <a:r>
              <a:rPr lang="en-US" sz="750" dirty="0">
                <a:solidFill>
                  <a:srgbClr val="ADBDD0"/>
                </a:solidFill>
              </a:rPr>
              <a:t>B.Dhanush  |  23bce9640  |  WWE-UIE Enhanced v2  |  UFO-120 Dataset</a:t>
            </a:r>
            <a:endParaRPr lang="en-US" sz="750" dirty="0"/>
          </a:p>
        </p:txBody>
      </p:sp>
      <p:sp>
        <p:nvSpPr>
          <p:cNvPr id="8" name="Text 6"/>
          <p:cNvSpPr/>
          <p:nvPr/>
        </p:nvSpPr>
        <p:spPr>
          <a:xfrm>
            <a:off x="8138160" y="5018227"/>
            <a:ext cx="822960" cy="109728"/>
          </a:xfrm>
          <a:prstGeom prst="rect">
            <a:avLst/>
          </a:prstGeom>
          <a:noFill/>
          <a:ln/>
        </p:spPr>
        <p:txBody>
          <a:bodyPr wrap="square" lIns="0" tIns="0" rIns="0" bIns="0" rtlCol="0" anchor="ctr"/>
          <a:lstStyle/>
          <a:p>
            <a:pPr algn="r" indent="0" marL="0">
              <a:buNone/>
            </a:pPr>
            <a:r>
              <a:rPr lang="en-US" sz="750" dirty="0">
                <a:solidFill>
                  <a:srgbClr val="ADBDD0"/>
                </a:solidFill>
              </a:rPr>
              <a:t>5 / 10</a:t>
            </a:r>
            <a:endParaRPr lang="en-US" sz="750" dirty="0"/>
          </a:p>
        </p:txBody>
      </p:sp>
      <p:sp>
        <p:nvSpPr>
          <p:cNvPr id="9" name="Text 7"/>
          <p:cNvSpPr/>
          <p:nvPr/>
        </p:nvSpPr>
        <p:spPr>
          <a:xfrm>
            <a:off x="347472" y="1170432"/>
            <a:ext cx="8503920" cy="365760"/>
          </a:xfrm>
          <a:prstGeom prst="rect">
            <a:avLst/>
          </a:prstGeom>
          <a:noFill/>
          <a:ln/>
        </p:spPr>
        <p:txBody>
          <a:bodyPr wrap="square" lIns="0" tIns="0" rIns="0" bIns="0" rtlCol="0" anchor="ctr"/>
          <a:lstStyle/>
          <a:p>
            <a:pPr indent="0" marL="0">
              <a:buNone/>
            </a:pPr>
            <a:r>
              <a:rPr lang="en-US" sz="1100" i="1" dirty="0">
                <a:solidFill>
                  <a:srgbClr val="374151"/>
                </a:solidFill>
              </a:rPr>
              <a:t>Getting a model to converge isn't just picking hyperparameters from a paper — it requires understanding why each setting exists and what happens when they interact badly.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47472" y="1540000"/>
          <a:ext cx="5486400" cy="3650000"/>
        </p:xfrm>
        <a:graphic>
          <a:graphicData uri="http://schemas.openxmlformats.org/drawingml/2006/table">
            <a:tbl>
              <a:tblPr/>
              <a:tblGrid>
                <a:gridCol w="1280160"/>
                <a:gridCol w="1188720"/>
                <a:gridCol w="3017520"/>
              </a:tblGrid>
              <a:tr h="490000">
                <a:tc>
                  <a:txBody>
                    <a:bodyPr/>
                    <a:lstStyle/>
                    <a:p>
                      <a:pPr indent="0" marL="0">
                        <a:buNone/>
                      </a:pPr>
                      <a:r>
                        <a:rPr lang="en-US" sz="1200" b="1" dirty="0">
                          <a:solidFill>
                            <a:srgbClr val="FFFFFF"/>
                          </a:solidFill>
                        </a:rPr>
                        <a:t>Parameter</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3557"/>
                    </a:solidFill>
                  </a:tcPr>
                </a:tc>
                <a:tc>
                  <a:txBody>
                    <a:bodyPr/>
                    <a:lstStyle/>
                    <a:p>
                      <a:pPr indent="0" marL="0">
                        <a:buNone/>
                      </a:pPr>
                      <a:r>
                        <a:rPr lang="en-US" sz="1200" b="1" dirty="0">
                          <a:solidFill>
                            <a:srgbClr val="FFFFFF"/>
                          </a:solidFill>
                        </a:rPr>
                        <a:t>Value</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3557"/>
                    </a:solidFill>
                  </a:tcPr>
                </a:tc>
                <a:tc>
                  <a:txBody>
                    <a:bodyPr/>
                    <a:lstStyle/>
                    <a:p>
                      <a:pPr indent="0" marL="0">
                        <a:buNone/>
                      </a:pPr>
                      <a:r>
                        <a:rPr lang="en-US" sz="1200" b="1" dirty="0">
                          <a:solidFill>
                            <a:srgbClr val="FFFFFF"/>
                          </a:solidFill>
                        </a:rPr>
                        <a:t>Why This Choice</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3557"/>
                    </a:solidFill>
                  </a:tcPr>
                </a:tc>
              </a:tr>
              <a:tr h="490000">
                <a:tc>
                  <a:txBody>
                    <a:bodyPr/>
                    <a:lstStyle/>
                    <a:p>
                      <a:pPr indent="0" marL="0">
                        <a:buNone/>
                      </a:pPr>
                      <a:r>
                        <a:rPr lang="en-US" sz="1000" dirty="0">
                          <a:solidFill>
                            <a:srgbClr val="374151"/>
                          </a:solidFill>
                        </a:rPr>
                        <a:t>Epochs</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374151"/>
                          </a:solidFill>
                        </a:rPr>
                        <a:t>50</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374151"/>
                          </a:solidFill>
                        </a:rPr>
                        <a:t>Training plateaued at epochs 45–47; more epochs showed diminishing returns on validation PSNR</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90000">
                <a:tc>
                  <a:txBody>
                    <a:bodyPr/>
                    <a:lstStyle/>
                    <a:p>
                      <a:pPr indent="0" marL="0">
                        <a:buNone/>
                      </a:pPr>
                      <a:r>
                        <a:rPr lang="en-US" sz="1000" dirty="0">
                          <a:solidFill>
                            <a:srgbClr val="1A3557"/>
                          </a:solidFill>
                        </a:rPr>
                        <a:t>Batch Size</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1A3557"/>
                          </a:solidFill>
                        </a:rPr>
                        <a:t>2</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1A3557"/>
                          </a:solidFill>
                        </a:rPr>
                        <a:t>Small batches act as implicit regularization — each update is noisier but the model generalizes better to unseen test images</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490000">
                <a:tc>
                  <a:txBody>
                    <a:bodyPr/>
                    <a:lstStyle/>
                    <a:p>
                      <a:pPr indent="0" marL="0">
                        <a:buNone/>
                      </a:pPr>
                      <a:r>
                        <a:rPr lang="en-US" sz="1000" dirty="0">
                          <a:solidFill>
                            <a:srgbClr val="374151"/>
                          </a:solidFill>
                        </a:rPr>
                        <a:t>Optimizer</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374151"/>
                          </a:solidFill>
                        </a:rPr>
                        <a:t>AdamW</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374151"/>
                          </a:solidFill>
                        </a:rPr>
                        <a:t>Decoupled weight decay avoids the L2-regularization coupling problem that standard Adam has — more stable long-run training</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90000">
                <a:tc>
                  <a:txBody>
                    <a:bodyPr/>
                    <a:lstStyle/>
                    <a:p>
                      <a:pPr indent="0" marL="0">
                        <a:buNone/>
                      </a:pPr>
                      <a:r>
                        <a:rPr lang="en-US" sz="1000" dirty="0">
                          <a:solidFill>
                            <a:srgbClr val="1A3557"/>
                          </a:solidFill>
                        </a:rPr>
                        <a:t>Initial LR</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1A3557"/>
                          </a:solidFill>
                        </a:rPr>
                        <a:t>2 × 10⁻³</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1A3557"/>
                          </a:solidFill>
                        </a:rPr>
                        <a:t>Aggressive enough to escape bad local minima early; safely decayed by the scheduler before fine-grained fitting</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490000">
                <a:tc>
                  <a:txBody>
                    <a:bodyPr/>
                    <a:lstStyle/>
                    <a:p>
                      <a:pPr indent="0" marL="0">
                        <a:buNone/>
                      </a:pPr>
                      <a:r>
                        <a:rPr lang="en-US" sz="1000" dirty="0">
                          <a:solidFill>
                            <a:srgbClr val="374151"/>
                          </a:solidFill>
                        </a:rPr>
                        <a:t>LR Schedule</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374151"/>
                          </a:solidFill>
                        </a:rPr>
                        <a:t>CosineAnnealingLR</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374151"/>
                          </a:solidFill>
                        </a:rPr>
                        <a:t>Smoothly reduces the learning rate following a cosine curve — avoids the hard step-drops of StepLR that can destabilize late-stage training</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90000">
                <a:tc>
                  <a:txBody>
                    <a:bodyPr/>
                    <a:lstStyle/>
                    <a:p>
                      <a:pPr indent="0" marL="0">
                        <a:buNone/>
                      </a:pPr>
                      <a:r>
                        <a:rPr lang="en-US" sz="1000" dirty="0">
                          <a:solidFill>
                            <a:srgbClr val="1A3557"/>
                          </a:solidFill>
                        </a:rPr>
                        <a:t>Grad Clipping</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1A3557"/>
                          </a:solidFill>
                        </a:rPr>
                        <a:t>max norm 1.0</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1A3557"/>
                          </a:solidFill>
                        </a:rPr>
                        <a:t>Hard limit on gradient magnitude — prevents the norm from exploding when high LR meets a small batch</a:t>
                      </a:r>
                      <a:endParaRPr lang="en-US" sz="1000" dirty="0"/>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bl>
          </a:graphicData>
        </a:graphic>
      </p:graphicFrame>
      <p:sp>
        <p:nvSpPr>
          <p:cNvPr id="11" name="Shape 8"/>
          <p:cNvSpPr/>
          <p:nvPr/>
        </p:nvSpPr>
        <p:spPr>
          <a:xfrm>
            <a:off x="5989320" y="1540000"/>
            <a:ext cx="2834640" cy="1572768"/>
          </a:xfrm>
          <a:prstGeom prst="rect">
            <a:avLst/>
          </a:prstGeom>
          <a:solidFill>
            <a:srgbClr val="DCFCE7"/>
          </a:solidFill>
          <a:ln w="9525">
            <a:solidFill>
              <a:srgbClr val="86EFAC"/>
            </a:solidFill>
            <a:prstDash val="solid"/>
          </a:ln>
        </p:spPr>
      </p:sp>
      <p:sp>
        <p:nvSpPr>
          <p:cNvPr id="12" name="Text 9"/>
          <p:cNvSpPr/>
          <p:nvPr/>
        </p:nvSpPr>
        <p:spPr>
          <a:xfrm>
            <a:off x="6126480" y="1631440"/>
            <a:ext cx="2560320" cy="201168"/>
          </a:xfrm>
          <a:prstGeom prst="rect">
            <a:avLst/>
          </a:prstGeom>
          <a:noFill/>
          <a:ln/>
        </p:spPr>
        <p:txBody>
          <a:bodyPr wrap="square" lIns="0" tIns="0" rIns="0" bIns="0" rtlCol="0" anchor="ctr"/>
          <a:lstStyle/>
          <a:p>
            <a:pPr indent="0" marL="0">
              <a:buNone/>
            </a:pPr>
            <a:r>
              <a:rPr lang="en-US" sz="800" b="1" spc="150" kern="0" dirty="0">
                <a:solidFill>
                  <a:srgbClr val="15803D"/>
                </a:solidFill>
              </a:rPr>
              <a:t>LOSS FUNCTION DESIGN</a:t>
            </a:r>
            <a:endParaRPr lang="en-US" sz="800" dirty="0"/>
          </a:p>
        </p:txBody>
      </p:sp>
      <p:sp>
        <p:nvSpPr>
          <p:cNvPr id="13" name="Text 10"/>
          <p:cNvSpPr/>
          <p:nvPr/>
        </p:nvSpPr>
        <p:spPr>
          <a:xfrm>
            <a:off x="6126480" y="1850896"/>
            <a:ext cx="2560320" cy="685800"/>
          </a:xfrm>
          <a:prstGeom prst="rect">
            <a:avLst/>
          </a:prstGeom>
          <a:noFill/>
          <a:ln/>
        </p:spPr>
        <p:txBody>
          <a:bodyPr wrap="square" lIns="0" tIns="0" rIns="0" bIns="0" rtlCol="0" anchor="ctr"/>
          <a:lstStyle/>
          <a:p>
            <a:pPr indent="0" marL="0">
              <a:buNone/>
            </a:pPr>
            <a:r>
              <a:rPr lang="en-US" sz="1400" dirty="0">
                <a:solidFill>
                  <a:srgbClr val="1A3557"/>
                </a:solidFill>
              </a:rPr>
              <a:t xml:space="preserve">L_total  =  </a:t>
            </a:r>
            <a:pPr indent="0" marL="0">
              <a:buNone/>
            </a:pPr>
            <a:r>
              <a:rPr lang="en-US" sz="1400" b="1" dirty="0">
                <a:solidFill>
                  <a:srgbClr val="D97706"/>
                </a:solidFill>
              </a:rPr>
              <a:t>1.0</a:t>
            </a:r>
            <a:pPr indent="0" marL="0">
              <a:buNone/>
            </a:pPr>
            <a:r>
              <a:rPr lang="en-US" sz="1400" dirty="0">
                <a:solidFill>
                  <a:srgbClr val="1A3557"/>
                </a:solidFill>
              </a:rPr>
              <a:t xml:space="preserve"> × MSE</a:t>
            </a:r>
            <a:endParaRPr lang="en-US" sz="1400" dirty="0"/>
          </a:p>
          <a:p>
            <a:pPr indent="0" marL="0">
              <a:buNone/>
            </a:pPr>
            <a:r>
              <a:rPr lang="en-US" sz="1400" dirty="0">
                <a:solidFill>
                  <a:srgbClr val="1A3557"/>
                </a:solidFill>
              </a:rPr>
              <a:t xml:space="preserve">         +  </a:t>
            </a:r>
            <a:endParaRPr lang="en-US" sz="1400" dirty="0"/>
          </a:p>
          <a:p>
            <a:pPr indent="0" marL="0">
              <a:buNone/>
            </a:pPr>
            <a:r>
              <a:rPr lang="en-US" sz="1400" b="1" dirty="0">
                <a:solidFill>
                  <a:srgbClr val="D97706"/>
                </a:solidFill>
              </a:rPr>
              <a:t>0.1</a:t>
            </a:r>
            <a:pPr indent="0" marL="0">
              <a:buNone/>
            </a:pPr>
            <a:r>
              <a:rPr lang="en-US" sz="1400" dirty="0">
                <a:solidFill>
                  <a:srgbClr val="1A3557"/>
                </a:solidFill>
              </a:rPr>
              <a:t xml:space="preserve"> × SSIM</a:t>
            </a:r>
            <a:endParaRPr lang="en-US" sz="1400" dirty="0"/>
          </a:p>
        </p:txBody>
      </p:sp>
      <p:sp>
        <p:nvSpPr>
          <p:cNvPr id="14" name="Text 11"/>
          <p:cNvSpPr/>
          <p:nvPr/>
        </p:nvSpPr>
        <p:spPr>
          <a:xfrm>
            <a:off x="6126480" y="2670048"/>
            <a:ext cx="2560320" cy="457200"/>
          </a:xfrm>
          <a:prstGeom prst="rect">
            <a:avLst/>
          </a:prstGeom>
          <a:noFill/>
          <a:ln/>
        </p:spPr>
        <p:txBody>
          <a:bodyPr wrap="square" lIns="0" tIns="0" rIns="0" bIns="0" rtlCol="0" anchor="ctr"/>
          <a:lstStyle/>
          <a:p>
            <a:pPr indent="0" marL="0">
              <a:buNone/>
            </a:pPr>
            <a:r>
              <a:rPr lang="en-US" sz="850" i="1" dirty="0">
                <a:solidFill>
                  <a:srgbClr val="6B7280"/>
                </a:solidFill>
              </a:rPr>
              <a:t>MSE ensures pixel accuracy. The SSIM term pushes the model to also care about structural patterns — edges, contrast, and texture order — not just average pixel values.</a:t>
            </a:r>
            <a:endParaRPr lang="en-US" sz="850" dirty="0"/>
          </a:p>
        </p:txBody>
      </p:sp>
      <p:sp>
        <p:nvSpPr>
          <p:cNvPr id="15" name="Shape 12"/>
          <p:cNvSpPr/>
          <p:nvPr/>
        </p:nvSpPr>
        <p:spPr>
          <a:xfrm>
            <a:off x="5989320" y="3212496"/>
            <a:ext cx="2834640" cy="1444752"/>
          </a:xfrm>
          <a:prstGeom prst="rect">
            <a:avLst/>
          </a:prstGeom>
          <a:solidFill>
            <a:srgbClr val="FEE2E2"/>
          </a:solidFill>
          <a:ln w="9525">
            <a:solidFill>
              <a:srgbClr val="FECACA"/>
            </a:solidFill>
            <a:prstDash val="solid"/>
          </a:ln>
        </p:spPr>
      </p:sp>
      <p:sp>
        <p:nvSpPr>
          <p:cNvPr id="16" name="Text 13"/>
          <p:cNvSpPr/>
          <p:nvPr/>
        </p:nvSpPr>
        <p:spPr>
          <a:xfrm>
            <a:off x="6126480" y="3303936"/>
            <a:ext cx="2560320" cy="256032"/>
          </a:xfrm>
          <a:prstGeom prst="rect">
            <a:avLst/>
          </a:prstGeom>
          <a:noFill/>
          <a:ln/>
        </p:spPr>
        <p:txBody>
          <a:bodyPr wrap="square" lIns="0" tIns="0" rIns="0" bIns="0" rtlCol="0" anchor="ctr"/>
          <a:lstStyle/>
          <a:p>
            <a:pPr indent="0" marL="0">
              <a:buNone/>
            </a:pPr>
            <a:r>
              <a:rPr lang="en-US" sz="850" b="1" dirty="0">
                <a:solidFill>
                  <a:srgbClr val="B91C1C"/>
                </a:solidFill>
              </a:rPr>
              <a:t>⚠  TRAINING CRISIS — EPOCH 6</a:t>
            </a:r>
            <a:endParaRPr lang="en-US" sz="850" dirty="0"/>
          </a:p>
        </p:txBody>
      </p:sp>
      <p:sp>
        <p:nvSpPr>
          <p:cNvPr id="17" name="Text 14"/>
          <p:cNvSpPr/>
          <p:nvPr/>
        </p:nvSpPr>
        <p:spPr>
          <a:xfrm>
            <a:off x="6126480" y="3587400"/>
            <a:ext cx="2560320" cy="548640"/>
          </a:xfrm>
          <a:prstGeom prst="rect">
            <a:avLst/>
          </a:prstGeom>
          <a:noFill/>
          <a:ln/>
        </p:spPr>
        <p:txBody>
          <a:bodyPr wrap="square" lIns="0" tIns="0" rIns="0" bIns="0" rtlCol="0" anchor="ctr"/>
          <a:lstStyle/>
          <a:p>
            <a:pPr indent="0" marL="0">
              <a:buNone/>
            </a:pPr>
            <a:r>
              <a:rPr lang="en-US" sz="900" dirty="0">
                <a:solidFill>
                  <a:srgbClr val="374151"/>
                </a:solidFill>
              </a:rPr>
              <a:t>PSNR collapsed to 5.36 dB at epoch 6 — practically random output. The cause: high learning rate (2×10⁻³) meeting a tiny batch of 2 images creates enormous gradient variance.</a:t>
            </a:r>
            <a:endParaRPr lang="en-US" sz="900" dirty="0"/>
          </a:p>
        </p:txBody>
      </p:sp>
      <p:sp>
        <p:nvSpPr>
          <p:cNvPr id="18" name="Text 15"/>
          <p:cNvSpPr/>
          <p:nvPr/>
        </p:nvSpPr>
        <p:spPr>
          <a:xfrm>
            <a:off x="6126480" y="4251960"/>
            <a:ext cx="2560320" cy="438912"/>
          </a:xfrm>
          <a:prstGeom prst="rect">
            <a:avLst/>
          </a:prstGeom>
          <a:noFill/>
          <a:ln/>
        </p:spPr>
        <p:txBody>
          <a:bodyPr wrap="square" lIns="0" tIns="0" rIns="0" bIns="0" rtlCol="0" anchor="ctr"/>
          <a:lstStyle/>
          <a:p>
            <a:pPr indent="0" marL="0">
              <a:buNone/>
            </a:pPr>
            <a:r>
              <a:rPr lang="en-US" sz="900" b="1" dirty="0">
                <a:solidFill>
                  <a:srgbClr val="15803D"/>
                </a:solidFill>
              </a:rPr>
              <a:t>Fix: gradient clipping (norm ≤ 1.0) + cosine scheduler naturally reduced LR before the next instability window. Training stabilized by epoch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3557"/>
          </a:solidFill>
          <a:ln w="12700">
            <a:solidFill>
              <a:srgbClr val="1A3557"/>
            </a:solidFill>
            <a:prstDash val="solid"/>
          </a:ln>
        </p:spPr>
      </p:sp>
      <p:sp>
        <p:nvSpPr>
          <p:cNvPr id="3" name="Text 1"/>
          <p:cNvSpPr/>
          <p:nvPr/>
        </p:nvSpPr>
        <p:spPr>
          <a:xfrm>
            <a:off x="347472" y="256032"/>
            <a:ext cx="8595360" cy="256032"/>
          </a:xfrm>
          <a:prstGeom prst="rect">
            <a:avLst/>
          </a:prstGeom>
          <a:noFill/>
          <a:ln/>
        </p:spPr>
        <p:txBody>
          <a:bodyPr wrap="square" lIns="0" tIns="0" rIns="0" bIns="0" rtlCol="0" anchor="ctr"/>
          <a:lstStyle/>
          <a:p>
            <a:pPr indent="0" marL="0">
              <a:buNone/>
            </a:pPr>
            <a:r>
              <a:rPr lang="en-US" sz="850" b="1" spc="350" kern="0" dirty="0">
                <a:solidFill>
                  <a:srgbClr val="0D7A6E"/>
                </a:solidFill>
              </a:rPr>
              <a:t>QUANTITATIVE RESULTS</a:t>
            </a:r>
            <a:endParaRPr lang="en-US" sz="850" dirty="0"/>
          </a:p>
        </p:txBody>
      </p:sp>
      <p:sp>
        <p:nvSpPr>
          <p:cNvPr id="4" name="Text 2"/>
          <p:cNvSpPr/>
          <p:nvPr/>
        </p:nvSpPr>
        <p:spPr>
          <a:xfrm>
            <a:off x="347472" y="502920"/>
            <a:ext cx="8595360" cy="566928"/>
          </a:xfrm>
          <a:prstGeom prst="rect">
            <a:avLst/>
          </a:prstGeom>
          <a:noFill/>
          <a:ln/>
        </p:spPr>
        <p:txBody>
          <a:bodyPr wrap="square" lIns="0" tIns="0" rIns="0" bIns="0" rtlCol="0" anchor="ctr"/>
          <a:lstStyle/>
          <a:p>
            <a:pPr indent="0" marL="0">
              <a:buNone/>
            </a:pPr>
            <a:r>
              <a:rPr lang="en-US" sz="2600" b="1" dirty="0">
                <a:solidFill>
                  <a:srgbClr val="1A3557"/>
                </a:solidFill>
              </a:rPr>
              <a:t>UFO-120 Benchmark — Honest Numbers</a:t>
            </a:r>
            <a:endParaRPr lang="en-US" sz="2600" dirty="0"/>
          </a:p>
        </p:txBody>
      </p:sp>
      <p:sp>
        <p:nvSpPr>
          <p:cNvPr id="5" name="Shape 3"/>
          <p:cNvSpPr/>
          <p:nvPr/>
        </p:nvSpPr>
        <p:spPr>
          <a:xfrm>
            <a:off x="347472" y="1097280"/>
            <a:ext cx="8503920" cy="0"/>
          </a:xfrm>
          <a:prstGeom prst="line">
            <a:avLst/>
          </a:prstGeom>
          <a:noFill/>
          <a:ln w="9525">
            <a:solidFill>
              <a:srgbClr val="D1D5DB"/>
            </a:solidFill>
            <a:prstDash val="solid"/>
          </a:ln>
        </p:spPr>
      </p:sp>
      <p:sp>
        <p:nvSpPr>
          <p:cNvPr id="6" name="Shape 4"/>
          <p:cNvSpPr/>
          <p:nvPr/>
        </p:nvSpPr>
        <p:spPr>
          <a:xfrm>
            <a:off x="0" y="5010912"/>
            <a:ext cx="9144000" cy="132588"/>
          </a:xfrm>
          <a:prstGeom prst="rect">
            <a:avLst/>
          </a:prstGeom>
          <a:solidFill>
            <a:srgbClr val="1A3557"/>
          </a:solidFill>
          <a:ln w="12700">
            <a:solidFill>
              <a:srgbClr val="1A3557"/>
            </a:solidFill>
            <a:prstDash val="solid"/>
          </a:ln>
        </p:spPr>
      </p:sp>
      <p:sp>
        <p:nvSpPr>
          <p:cNvPr id="7" name="Text 5"/>
          <p:cNvSpPr/>
          <p:nvPr/>
        </p:nvSpPr>
        <p:spPr>
          <a:xfrm>
            <a:off x="347472" y="5018227"/>
            <a:ext cx="7772400" cy="109728"/>
          </a:xfrm>
          <a:prstGeom prst="rect">
            <a:avLst/>
          </a:prstGeom>
          <a:noFill/>
          <a:ln/>
        </p:spPr>
        <p:txBody>
          <a:bodyPr wrap="square" lIns="0" tIns="0" rIns="0" bIns="0" rtlCol="0" anchor="ctr"/>
          <a:lstStyle/>
          <a:p>
            <a:pPr indent="0" marL="0">
              <a:buNone/>
            </a:pPr>
            <a:r>
              <a:rPr lang="en-US" sz="750" dirty="0">
                <a:solidFill>
                  <a:srgbClr val="ADBDD0"/>
                </a:solidFill>
              </a:rPr>
              <a:t>B.Dhanush  |  23bce9640  |  WWE-UIE Enhanced v2  |  UFO-120 Dataset</a:t>
            </a:r>
            <a:endParaRPr lang="en-US" sz="750" dirty="0"/>
          </a:p>
        </p:txBody>
      </p:sp>
      <p:sp>
        <p:nvSpPr>
          <p:cNvPr id="8" name="Text 6"/>
          <p:cNvSpPr/>
          <p:nvPr/>
        </p:nvSpPr>
        <p:spPr>
          <a:xfrm>
            <a:off x="8138160" y="5018227"/>
            <a:ext cx="822960" cy="109728"/>
          </a:xfrm>
          <a:prstGeom prst="rect">
            <a:avLst/>
          </a:prstGeom>
          <a:noFill/>
          <a:ln/>
        </p:spPr>
        <p:txBody>
          <a:bodyPr wrap="square" lIns="0" tIns="0" rIns="0" bIns="0" rtlCol="0" anchor="ctr"/>
          <a:lstStyle/>
          <a:p>
            <a:pPr algn="r" indent="0" marL="0">
              <a:buNone/>
            </a:pPr>
            <a:r>
              <a:rPr lang="en-US" sz="750" dirty="0">
                <a:solidFill>
                  <a:srgbClr val="ADBDD0"/>
                </a:solidFill>
              </a:rPr>
              <a:t>6 / 10</a:t>
            </a:r>
            <a:endParaRPr lang="en-US" sz="750" dirty="0"/>
          </a:p>
        </p:txBody>
      </p:sp>
      <p:sp>
        <p:nvSpPr>
          <p:cNvPr id="9" name="Text 7"/>
          <p:cNvSpPr/>
          <p:nvPr/>
        </p:nvSpPr>
        <p:spPr>
          <a:xfrm>
            <a:off x="347472" y="1170432"/>
            <a:ext cx="8503920" cy="320040"/>
          </a:xfrm>
          <a:prstGeom prst="rect">
            <a:avLst/>
          </a:prstGeom>
          <a:noFill/>
          <a:ln/>
        </p:spPr>
        <p:txBody>
          <a:bodyPr wrap="square" lIns="0" tIns="0" rIns="0" bIns="0" rtlCol="0" anchor="ctr"/>
          <a:lstStyle/>
          <a:p>
            <a:pPr indent="0" marL="0">
              <a:buNone/>
            </a:pPr>
            <a:r>
              <a:rPr lang="en-US" sz="1100" i="1" dirty="0">
                <a:solidFill>
                  <a:srgbClr val="374151"/>
                </a:solidFill>
              </a:rPr>
              <a:t>One of my most important contributions was ensuring the results I report are scientifically honest. Here's the full picture:</a:t>
            </a:r>
            <a:endParaRPr lang="en-US" sz="1100" dirty="0"/>
          </a:p>
        </p:txBody>
      </p:sp>
      <p:sp>
        <p:nvSpPr>
          <p:cNvPr id="10" name="Shape 8"/>
          <p:cNvSpPr/>
          <p:nvPr/>
        </p:nvSpPr>
        <p:spPr>
          <a:xfrm>
            <a:off x="347472" y="1536192"/>
            <a:ext cx="8503920" cy="621792"/>
          </a:xfrm>
          <a:prstGeom prst="rect">
            <a:avLst/>
          </a:prstGeom>
          <a:solidFill>
            <a:srgbClr val="FEF3C7"/>
          </a:solidFill>
          <a:ln w="9525">
            <a:solidFill>
              <a:srgbClr val="FCD34D"/>
            </a:solidFill>
            <a:prstDash val="solid"/>
          </a:ln>
        </p:spPr>
      </p:sp>
      <p:sp>
        <p:nvSpPr>
          <p:cNvPr id="11" name="Text 9"/>
          <p:cNvSpPr/>
          <p:nvPr/>
        </p:nvSpPr>
        <p:spPr>
          <a:xfrm>
            <a:off x="502920" y="1572768"/>
            <a:ext cx="8229600" cy="548640"/>
          </a:xfrm>
          <a:prstGeom prst="rect">
            <a:avLst/>
          </a:prstGeom>
          <a:noFill/>
          <a:ln/>
        </p:spPr>
        <p:txBody>
          <a:bodyPr wrap="square" lIns="0" tIns="0" rIns="0" bIns="0" rtlCol="0" anchor="ctr"/>
          <a:lstStyle/>
          <a:p>
            <a:pPr indent="0" marL="0">
              <a:buNone/>
            </a:pPr>
            <a:r>
              <a:rPr lang="en-US" sz="1000" b="1" dirty="0">
                <a:solidFill>
                  <a:srgbClr val="D97706"/>
                </a:solidFill>
              </a:rPr>
              <a:t xml:space="preserve">CODE INTEGRITY NOTE:  </a:t>
            </a:r>
            <a:pPr indent="0" marL="0">
              <a:buNone/>
            </a:pPr>
            <a:r>
              <a:rPr lang="en-US" sz="1000" dirty="0">
                <a:solidFill>
                  <a:srgbClr val="374151"/>
                </a:solidFill>
              </a:rPr>
              <a:t>After careful code review, I discovered the original WWE-UIE repository applied hidden numerical multipliers during metric computation — a practice that inflates reported scores. I removed all such multipliers before training and evaluating my model. Every number below is a genuine, reproducible result.</a:t>
            </a:r>
            <a:endParaRPr lang="en-US" sz="1000" dirty="0"/>
          </a:p>
        </p:txBody>
      </p:sp>
      <p:sp>
        <p:nvSpPr>
          <p:cNvPr id="12" name="Shape 10"/>
          <p:cNvSpPr/>
          <p:nvPr/>
        </p:nvSpPr>
        <p:spPr>
          <a:xfrm>
            <a:off x="347472" y="2286000"/>
            <a:ext cx="4114800" cy="2487168"/>
          </a:xfrm>
          <a:prstGeom prst="rect">
            <a:avLst/>
          </a:prstGeom>
          <a:solidFill>
            <a:srgbClr val="F3F4F6"/>
          </a:solidFill>
          <a:ln w="9525">
            <a:solidFill>
              <a:srgbClr val="D1D5DB"/>
            </a:solidFill>
            <a:prstDash val="solid"/>
          </a:ln>
        </p:spPr>
      </p:sp>
      <p:sp>
        <p:nvSpPr>
          <p:cNvPr id="13" name="Shape 11"/>
          <p:cNvSpPr/>
          <p:nvPr/>
        </p:nvSpPr>
        <p:spPr>
          <a:xfrm>
            <a:off x="347472" y="2286000"/>
            <a:ext cx="4114800" cy="384048"/>
          </a:xfrm>
          <a:prstGeom prst="rect">
            <a:avLst/>
          </a:prstGeom>
          <a:solidFill>
            <a:srgbClr val="1A3557"/>
          </a:solidFill>
          <a:ln w="12700">
            <a:solidFill>
              <a:srgbClr val="1A3557"/>
            </a:solidFill>
            <a:prstDash val="solid"/>
          </a:ln>
        </p:spPr>
      </p:sp>
      <p:sp>
        <p:nvSpPr>
          <p:cNvPr id="14" name="Text 12"/>
          <p:cNvSpPr/>
          <p:nvPr/>
        </p:nvSpPr>
        <p:spPr>
          <a:xfrm>
            <a:off x="457200" y="2304288"/>
            <a:ext cx="3886200" cy="347472"/>
          </a:xfrm>
          <a:prstGeom prst="rect">
            <a:avLst/>
          </a:prstGeom>
          <a:noFill/>
          <a:ln/>
        </p:spPr>
        <p:txBody>
          <a:bodyPr wrap="square" lIns="0" tIns="0" rIns="0" bIns="0" rtlCol="0" anchor="ctr"/>
          <a:lstStyle/>
          <a:p>
            <a:pPr indent="0" marL="0">
              <a:buNone/>
            </a:pPr>
            <a:r>
              <a:rPr lang="en-US" sz="1000" b="1" dirty="0">
                <a:solidFill>
                  <a:srgbClr val="FFFFFF"/>
                </a:solidFill>
              </a:rPr>
              <a:t>PSNR  (Peak Signal-to-Noise Ratio)</a:t>
            </a:r>
            <a:endParaRPr lang="en-US" sz="1000" dirty="0"/>
          </a:p>
        </p:txBody>
      </p:sp>
      <p:sp>
        <p:nvSpPr>
          <p:cNvPr id="15" name="Shape 13"/>
          <p:cNvSpPr/>
          <p:nvPr/>
        </p:nvSpPr>
        <p:spPr>
          <a:xfrm>
            <a:off x="502920" y="2761488"/>
            <a:ext cx="1783080" cy="1554480"/>
          </a:xfrm>
          <a:prstGeom prst="rect">
            <a:avLst/>
          </a:prstGeom>
          <a:solidFill>
            <a:srgbClr val="FFFFFF"/>
          </a:solidFill>
          <a:ln w="12700">
            <a:solidFill>
              <a:srgbClr val="D1D5DB"/>
            </a:solidFill>
            <a:prstDash val="solid"/>
          </a:ln>
        </p:spPr>
      </p:sp>
      <p:sp>
        <p:nvSpPr>
          <p:cNvPr id="16" name="Text 14"/>
          <p:cNvSpPr/>
          <p:nvPr/>
        </p:nvSpPr>
        <p:spPr>
          <a:xfrm>
            <a:off x="502920" y="2798064"/>
            <a:ext cx="1783080" cy="201168"/>
          </a:xfrm>
          <a:prstGeom prst="rect">
            <a:avLst/>
          </a:prstGeom>
          <a:noFill/>
          <a:ln/>
        </p:spPr>
        <p:txBody>
          <a:bodyPr wrap="square" lIns="0" tIns="0" rIns="0" bIns="0" rtlCol="0" anchor="ctr"/>
          <a:lstStyle/>
          <a:p>
            <a:pPr algn="ctr" indent="0" marL="0">
              <a:buNone/>
            </a:pPr>
            <a:r>
              <a:rPr lang="en-US" sz="750" b="1" spc="100" kern="0" dirty="0">
                <a:solidFill>
                  <a:srgbClr val="6B7280"/>
                </a:solidFill>
              </a:rPr>
              <a:t>BASELINE</a:t>
            </a:r>
            <a:endParaRPr lang="en-US" sz="750" dirty="0"/>
          </a:p>
        </p:txBody>
      </p:sp>
      <p:sp>
        <p:nvSpPr>
          <p:cNvPr id="17" name="Text 15"/>
          <p:cNvSpPr/>
          <p:nvPr/>
        </p:nvSpPr>
        <p:spPr>
          <a:xfrm>
            <a:off x="502920" y="3017520"/>
            <a:ext cx="1783080" cy="731520"/>
          </a:xfrm>
          <a:prstGeom prst="rect">
            <a:avLst/>
          </a:prstGeom>
          <a:noFill/>
          <a:ln/>
        </p:spPr>
        <p:txBody>
          <a:bodyPr wrap="square" lIns="0" tIns="0" rIns="0" bIns="0" rtlCol="0" anchor="ctr"/>
          <a:lstStyle/>
          <a:p>
            <a:pPr algn="ctr" indent="0" marL="0">
              <a:buNone/>
            </a:pPr>
            <a:r>
              <a:rPr lang="en-US" sz="4000" b="1" dirty="0">
                <a:solidFill>
                  <a:srgbClr val="6B7280"/>
                </a:solidFill>
              </a:rPr>
              <a:t>28.28</a:t>
            </a:r>
            <a:endParaRPr lang="en-US" sz="4000" dirty="0"/>
          </a:p>
        </p:txBody>
      </p:sp>
      <p:sp>
        <p:nvSpPr>
          <p:cNvPr id="18" name="Text 16"/>
          <p:cNvSpPr/>
          <p:nvPr/>
        </p:nvSpPr>
        <p:spPr>
          <a:xfrm>
            <a:off x="502920" y="3749040"/>
            <a:ext cx="1783080" cy="228600"/>
          </a:xfrm>
          <a:prstGeom prst="rect">
            <a:avLst/>
          </a:prstGeom>
          <a:noFill/>
          <a:ln/>
        </p:spPr>
        <p:txBody>
          <a:bodyPr wrap="square" lIns="0" tIns="0" rIns="0" bIns="0" rtlCol="0" anchor="ctr"/>
          <a:lstStyle/>
          <a:p>
            <a:pPr algn="ctr" indent="0" marL="0">
              <a:buNone/>
            </a:pPr>
            <a:r>
              <a:rPr lang="en-US" sz="1100" dirty="0">
                <a:solidFill>
                  <a:srgbClr val="6B7280"/>
                </a:solidFill>
              </a:rPr>
              <a:t>dB</a:t>
            </a:r>
            <a:endParaRPr lang="en-US" sz="1100" dirty="0"/>
          </a:p>
        </p:txBody>
      </p:sp>
      <p:sp>
        <p:nvSpPr>
          <p:cNvPr id="19" name="Text 17"/>
          <p:cNvSpPr/>
          <p:nvPr/>
        </p:nvSpPr>
        <p:spPr>
          <a:xfrm>
            <a:off x="502920" y="4005072"/>
            <a:ext cx="1783080" cy="256032"/>
          </a:xfrm>
          <a:prstGeom prst="rect">
            <a:avLst/>
          </a:prstGeom>
          <a:noFill/>
          <a:ln/>
        </p:spPr>
        <p:txBody>
          <a:bodyPr wrap="square" lIns="0" tIns="0" rIns="0" bIns="0" rtlCol="0" anchor="ctr"/>
          <a:lstStyle/>
          <a:p>
            <a:pPr algn="ctr" indent="0" marL="0">
              <a:buNone/>
            </a:pPr>
            <a:r>
              <a:rPr lang="en-US" sz="800" i="1" dirty="0">
                <a:solidFill>
                  <a:srgbClr val="6B7280"/>
                </a:solidFill>
              </a:rPr>
              <a:t>paper reported</a:t>
            </a:r>
            <a:endParaRPr lang="en-US" sz="800" dirty="0"/>
          </a:p>
        </p:txBody>
      </p:sp>
      <p:sp>
        <p:nvSpPr>
          <p:cNvPr id="20" name="Shape 18"/>
          <p:cNvSpPr/>
          <p:nvPr/>
        </p:nvSpPr>
        <p:spPr>
          <a:xfrm>
            <a:off x="2423160" y="2761488"/>
            <a:ext cx="1783080" cy="1554480"/>
          </a:xfrm>
          <a:prstGeom prst="rect">
            <a:avLst/>
          </a:prstGeom>
          <a:solidFill>
            <a:srgbClr val="FFFFFF"/>
          </a:solidFill>
          <a:ln w="19050">
            <a:solidFill>
              <a:srgbClr val="0D7A6E"/>
            </a:solidFill>
            <a:prstDash val="solid"/>
          </a:ln>
        </p:spPr>
      </p:sp>
      <p:sp>
        <p:nvSpPr>
          <p:cNvPr id="21" name="Text 19"/>
          <p:cNvSpPr/>
          <p:nvPr/>
        </p:nvSpPr>
        <p:spPr>
          <a:xfrm>
            <a:off x="2423160" y="2798064"/>
            <a:ext cx="1783080" cy="201168"/>
          </a:xfrm>
          <a:prstGeom prst="rect">
            <a:avLst/>
          </a:prstGeom>
          <a:noFill/>
          <a:ln/>
        </p:spPr>
        <p:txBody>
          <a:bodyPr wrap="square" lIns="0" tIns="0" rIns="0" bIns="0" rtlCol="0" anchor="ctr"/>
          <a:lstStyle/>
          <a:p>
            <a:pPr algn="ctr" indent="0" marL="0">
              <a:buNone/>
            </a:pPr>
            <a:r>
              <a:rPr lang="en-US" sz="750" b="1" spc="100" kern="0" dirty="0">
                <a:solidFill>
                  <a:srgbClr val="0D7A6E"/>
                </a:solidFill>
              </a:rPr>
              <a:t>MY MODEL</a:t>
            </a:r>
            <a:endParaRPr lang="en-US" sz="750" dirty="0"/>
          </a:p>
        </p:txBody>
      </p:sp>
      <p:sp>
        <p:nvSpPr>
          <p:cNvPr id="22" name="Text 20"/>
          <p:cNvSpPr/>
          <p:nvPr/>
        </p:nvSpPr>
        <p:spPr>
          <a:xfrm>
            <a:off x="2423160" y="3017520"/>
            <a:ext cx="1783080" cy="731520"/>
          </a:xfrm>
          <a:prstGeom prst="rect">
            <a:avLst/>
          </a:prstGeom>
          <a:noFill/>
          <a:ln/>
        </p:spPr>
        <p:txBody>
          <a:bodyPr wrap="square" lIns="0" tIns="0" rIns="0" bIns="0" rtlCol="0" anchor="ctr"/>
          <a:lstStyle/>
          <a:p>
            <a:pPr algn="ctr" indent="0" marL="0">
              <a:buNone/>
            </a:pPr>
            <a:r>
              <a:rPr lang="en-US" sz="4000" b="1" dirty="0">
                <a:solidFill>
                  <a:srgbClr val="0D7A6E"/>
                </a:solidFill>
              </a:rPr>
              <a:t>27.31</a:t>
            </a:r>
            <a:endParaRPr lang="en-US" sz="4000" dirty="0"/>
          </a:p>
        </p:txBody>
      </p:sp>
      <p:sp>
        <p:nvSpPr>
          <p:cNvPr id="23" name="Text 21"/>
          <p:cNvSpPr/>
          <p:nvPr/>
        </p:nvSpPr>
        <p:spPr>
          <a:xfrm>
            <a:off x="2423160" y="3749040"/>
            <a:ext cx="1783080" cy="228600"/>
          </a:xfrm>
          <a:prstGeom prst="rect">
            <a:avLst/>
          </a:prstGeom>
          <a:noFill/>
          <a:ln/>
        </p:spPr>
        <p:txBody>
          <a:bodyPr wrap="square" lIns="0" tIns="0" rIns="0" bIns="0" rtlCol="0" anchor="ctr"/>
          <a:lstStyle/>
          <a:p>
            <a:pPr algn="ctr" indent="0" marL="0">
              <a:buNone/>
            </a:pPr>
            <a:r>
              <a:rPr lang="en-US" sz="1100" dirty="0">
                <a:solidFill>
                  <a:srgbClr val="0D7A6E"/>
                </a:solidFill>
              </a:rPr>
              <a:t>dB</a:t>
            </a:r>
            <a:endParaRPr lang="en-US" sz="1100" dirty="0"/>
          </a:p>
        </p:txBody>
      </p:sp>
      <p:sp>
        <p:nvSpPr>
          <p:cNvPr id="24" name="Text 22"/>
          <p:cNvSpPr/>
          <p:nvPr/>
        </p:nvSpPr>
        <p:spPr>
          <a:xfrm>
            <a:off x="2423160" y="4005072"/>
            <a:ext cx="1783080" cy="256032"/>
          </a:xfrm>
          <a:prstGeom prst="rect">
            <a:avLst/>
          </a:prstGeom>
          <a:noFill/>
          <a:ln/>
        </p:spPr>
        <p:txBody>
          <a:bodyPr wrap="square" lIns="0" tIns="0" rIns="0" bIns="0" rtlCol="0" anchor="ctr"/>
          <a:lstStyle/>
          <a:p>
            <a:pPr algn="ctr" indent="0" marL="0">
              <a:buNone/>
            </a:pPr>
            <a:r>
              <a:rPr lang="en-US" sz="800" i="1" dirty="0">
                <a:solidFill>
                  <a:srgbClr val="0D7A6E"/>
                </a:solidFill>
              </a:rPr>
              <a:t>native / genuine</a:t>
            </a:r>
            <a:endParaRPr lang="en-US" sz="800" dirty="0"/>
          </a:p>
        </p:txBody>
      </p:sp>
      <p:sp>
        <p:nvSpPr>
          <p:cNvPr id="25" name="Shape 23"/>
          <p:cNvSpPr/>
          <p:nvPr/>
        </p:nvSpPr>
        <p:spPr>
          <a:xfrm>
            <a:off x="4736592" y="2286000"/>
            <a:ext cx="4114800" cy="2487168"/>
          </a:xfrm>
          <a:prstGeom prst="rect">
            <a:avLst/>
          </a:prstGeom>
          <a:solidFill>
            <a:srgbClr val="DCFCE7"/>
          </a:solidFill>
          <a:ln w="9525">
            <a:solidFill>
              <a:srgbClr val="86EFAC"/>
            </a:solidFill>
            <a:prstDash val="solid"/>
          </a:ln>
        </p:spPr>
      </p:sp>
      <p:sp>
        <p:nvSpPr>
          <p:cNvPr id="26" name="Shape 24"/>
          <p:cNvSpPr/>
          <p:nvPr/>
        </p:nvSpPr>
        <p:spPr>
          <a:xfrm>
            <a:off x="4736592" y="2286000"/>
            <a:ext cx="4114800" cy="384048"/>
          </a:xfrm>
          <a:prstGeom prst="rect">
            <a:avLst/>
          </a:prstGeom>
          <a:solidFill>
            <a:srgbClr val="15803D"/>
          </a:solidFill>
          <a:ln w="12700">
            <a:solidFill>
              <a:srgbClr val="15803D"/>
            </a:solidFill>
            <a:prstDash val="solid"/>
          </a:ln>
        </p:spPr>
      </p:sp>
      <p:sp>
        <p:nvSpPr>
          <p:cNvPr id="27" name="Text 25"/>
          <p:cNvSpPr/>
          <p:nvPr/>
        </p:nvSpPr>
        <p:spPr>
          <a:xfrm>
            <a:off x="4846320" y="2304288"/>
            <a:ext cx="3886200" cy="347472"/>
          </a:xfrm>
          <a:prstGeom prst="rect">
            <a:avLst/>
          </a:prstGeom>
          <a:noFill/>
          <a:ln/>
        </p:spPr>
        <p:txBody>
          <a:bodyPr wrap="square" lIns="0" tIns="0" rIns="0" bIns="0" rtlCol="0" anchor="ctr"/>
          <a:lstStyle/>
          <a:p>
            <a:pPr indent="0" marL="0">
              <a:buNone/>
            </a:pPr>
            <a:r>
              <a:rPr lang="en-US" sz="1000" b="1" dirty="0">
                <a:solidFill>
                  <a:srgbClr val="FFFFFF"/>
                </a:solidFill>
              </a:rPr>
              <a:t>SSIM  (Structural Similarity Index)</a:t>
            </a:r>
            <a:endParaRPr lang="en-US" sz="1000" dirty="0"/>
          </a:p>
        </p:txBody>
      </p:sp>
      <p:sp>
        <p:nvSpPr>
          <p:cNvPr id="28" name="Shape 26"/>
          <p:cNvSpPr/>
          <p:nvPr/>
        </p:nvSpPr>
        <p:spPr>
          <a:xfrm>
            <a:off x="4892040" y="2761488"/>
            <a:ext cx="1783080" cy="1554480"/>
          </a:xfrm>
          <a:prstGeom prst="rect">
            <a:avLst/>
          </a:prstGeom>
          <a:solidFill>
            <a:srgbClr val="FFFFFF"/>
          </a:solidFill>
          <a:ln w="12700">
            <a:solidFill>
              <a:srgbClr val="D1D5DB"/>
            </a:solidFill>
            <a:prstDash val="solid"/>
          </a:ln>
        </p:spPr>
      </p:sp>
      <p:sp>
        <p:nvSpPr>
          <p:cNvPr id="29" name="Text 27"/>
          <p:cNvSpPr/>
          <p:nvPr/>
        </p:nvSpPr>
        <p:spPr>
          <a:xfrm>
            <a:off x="4892040" y="2798064"/>
            <a:ext cx="1783080" cy="201168"/>
          </a:xfrm>
          <a:prstGeom prst="rect">
            <a:avLst/>
          </a:prstGeom>
          <a:noFill/>
          <a:ln/>
        </p:spPr>
        <p:txBody>
          <a:bodyPr wrap="square" lIns="0" tIns="0" rIns="0" bIns="0" rtlCol="0" anchor="ctr"/>
          <a:lstStyle/>
          <a:p>
            <a:pPr algn="ctr" indent="0" marL="0">
              <a:buNone/>
            </a:pPr>
            <a:r>
              <a:rPr lang="en-US" sz="750" b="1" spc="100" kern="0" dirty="0">
                <a:solidFill>
                  <a:srgbClr val="6B7280"/>
                </a:solidFill>
              </a:rPr>
              <a:t>BASELINE</a:t>
            </a:r>
            <a:endParaRPr lang="en-US" sz="750" dirty="0"/>
          </a:p>
        </p:txBody>
      </p:sp>
      <p:sp>
        <p:nvSpPr>
          <p:cNvPr id="30" name="Text 28"/>
          <p:cNvSpPr/>
          <p:nvPr/>
        </p:nvSpPr>
        <p:spPr>
          <a:xfrm>
            <a:off x="4892040" y="3017520"/>
            <a:ext cx="1783080" cy="731520"/>
          </a:xfrm>
          <a:prstGeom prst="rect">
            <a:avLst/>
          </a:prstGeom>
          <a:noFill/>
          <a:ln/>
        </p:spPr>
        <p:txBody>
          <a:bodyPr wrap="square" lIns="0" tIns="0" rIns="0" bIns="0" rtlCol="0" anchor="ctr"/>
          <a:lstStyle/>
          <a:p>
            <a:pPr algn="ctr" indent="0" marL="0">
              <a:buNone/>
            </a:pPr>
            <a:r>
              <a:rPr lang="en-US" sz="3600" b="1" dirty="0">
                <a:solidFill>
                  <a:srgbClr val="6B7280"/>
                </a:solidFill>
              </a:rPr>
              <a:t>0.8668</a:t>
            </a:r>
            <a:endParaRPr lang="en-US" sz="3600" dirty="0"/>
          </a:p>
        </p:txBody>
      </p:sp>
      <p:sp>
        <p:nvSpPr>
          <p:cNvPr id="31" name="Text 29"/>
          <p:cNvSpPr/>
          <p:nvPr/>
        </p:nvSpPr>
        <p:spPr>
          <a:xfrm>
            <a:off x="4892040" y="4005072"/>
            <a:ext cx="1783080" cy="256032"/>
          </a:xfrm>
          <a:prstGeom prst="rect">
            <a:avLst/>
          </a:prstGeom>
          <a:noFill/>
          <a:ln/>
        </p:spPr>
        <p:txBody>
          <a:bodyPr wrap="square" lIns="0" tIns="0" rIns="0" bIns="0" rtlCol="0" anchor="ctr"/>
          <a:lstStyle/>
          <a:p>
            <a:pPr algn="ctr" indent="0" marL="0">
              <a:buNone/>
            </a:pPr>
            <a:r>
              <a:rPr lang="en-US" sz="800" i="1" dirty="0">
                <a:solidFill>
                  <a:srgbClr val="6B7280"/>
                </a:solidFill>
              </a:rPr>
              <a:t>baseline</a:t>
            </a:r>
            <a:endParaRPr lang="en-US" sz="800" dirty="0"/>
          </a:p>
        </p:txBody>
      </p:sp>
      <p:sp>
        <p:nvSpPr>
          <p:cNvPr id="32" name="Shape 30"/>
          <p:cNvSpPr/>
          <p:nvPr/>
        </p:nvSpPr>
        <p:spPr>
          <a:xfrm>
            <a:off x="6812280" y="2761488"/>
            <a:ext cx="1783080" cy="1554480"/>
          </a:xfrm>
          <a:prstGeom prst="rect">
            <a:avLst/>
          </a:prstGeom>
          <a:solidFill>
            <a:srgbClr val="FFFFFF"/>
          </a:solidFill>
          <a:ln w="19050">
            <a:solidFill>
              <a:srgbClr val="15803D"/>
            </a:solidFill>
            <a:prstDash val="solid"/>
          </a:ln>
        </p:spPr>
      </p:sp>
      <p:sp>
        <p:nvSpPr>
          <p:cNvPr id="33" name="Text 31"/>
          <p:cNvSpPr/>
          <p:nvPr/>
        </p:nvSpPr>
        <p:spPr>
          <a:xfrm>
            <a:off x="6812280" y="2798064"/>
            <a:ext cx="1783080" cy="201168"/>
          </a:xfrm>
          <a:prstGeom prst="rect">
            <a:avLst/>
          </a:prstGeom>
          <a:noFill/>
          <a:ln/>
        </p:spPr>
        <p:txBody>
          <a:bodyPr wrap="square" lIns="0" tIns="0" rIns="0" bIns="0" rtlCol="0" anchor="ctr"/>
          <a:lstStyle/>
          <a:p>
            <a:pPr algn="ctr" indent="0" marL="0">
              <a:buNone/>
            </a:pPr>
            <a:r>
              <a:rPr lang="en-US" sz="750" b="1" spc="100" kern="0" dirty="0">
                <a:solidFill>
                  <a:srgbClr val="15803D"/>
                </a:solidFill>
              </a:rPr>
              <a:t>MY MODEL</a:t>
            </a:r>
            <a:endParaRPr lang="en-US" sz="750" dirty="0"/>
          </a:p>
        </p:txBody>
      </p:sp>
      <p:sp>
        <p:nvSpPr>
          <p:cNvPr id="34" name="Text 32"/>
          <p:cNvSpPr/>
          <p:nvPr/>
        </p:nvSpPr>
        <p:spPr>
          <a:xfrm>
            <a:off x="6812280" y="3017520"/>
            <a:ext cx="1783080" cy="731520"/>
          </a:xfrm>
          <a:prstGeom prst="rect">
            <a:avLst/>
          </a:prstGeom>
          <a:noFill/>
          <a:ln/>
        </p:spPr>
        <p:txBody>
          <a:bodyPr wrap="square" lIns="0" tIns="0" rIns="0" bIns="0" rtlCol="0" anchor="ctr"/>
          <a:lstStyle/>
          <a:p>
            <a:pPr algn="ctr" indent="0" marL="0">
              <a:buNone/>
            </a:pPr>
            <a:r>
              <a:rPr lang="en-US" sz="3600" b="1" dirty="0">
                <a:solidFill>
                  <a:srgbClr val="15803D"/>
                </a:solidFill>
              </a:rPr>
              <a:t>0.9033</a:t>
            </a:r>
            <a:endParaRPr lang="en-US" sz="3600" dirty="0"/>
          </a:p>
        </p:txBody>
      </p:sp>
      <p:sp>
        <p:nvSpPr>
          <p:cNvPr id="35" name="Text 33"/>
          <p:cNvSpPr/>
          <p:nvPr/>
        </p:nvSpPr>
        <p:spPr>
          <a:xfrm>
            <a:off x="6812280" y="3767328"/>
            <a:ext cx="1783080" cy="256032"/>
          </a:xfrm>
          <a:prstGeom prst="rect">
            <a:avLst/>
          </a:prstGeom>
          <a:noFill/>
          <a:ln/>
        </p:spPr>
        <p:txBody>
          <a:bodyPr wrap="square" lIns="0" tIns="0" rIns="0" bIns="0" rtlCol="0" anchor="ctr"/>
          <a:lstStyle/>
          <a:p>
            <a:pPr algn="ctr" indent="0" marL="0">
              <a:buNone/>
            </a:pPr>
            <a:r>
              <a:rPr lang="en-US" sz="1200" b="1" dirty="0">
                <a:solidFill>
                  <a:srgbClr val="15803D"/>
                </a:solidFill>
              </a:rPr>
              <a:t>▲ +0.037</a:t>
            </a:r>
            <a:endParaRPr lang="en-US" sz="1200" dirty="0"/>
          </a:p>
        </p:txBody>
      </p:sp>
      <p:sp>
        <p:nvSpPr>
          <p:cNvPr id="36" name="Text 34"/>
          <p:cNvSpPr/>
          <p:nvPr/>
        </p:nvSpPr>
        <p:spPr>
          <a:xfrm>
            <a:off x="6812280" y="4005072"/>
            <a:ext cx="1783080" cy="256032"/>
          </a:xfrm>
          <a:prstGeom prst="rect">
            <a:avLst/>
          </a:prstGeom>
          <a:noFill/>
          <a:ln/>
        </p:spPr>
        <p:txBody>
          <a:bodyPr wrap="square" lIns="0" tIns="0" rIns="0" bIns="0" rtlCol="0" anchor="ctr"/>
          <a:lstStyle/>
          <a:p>
            <a:pPr algn="ctr" indent="0" marL="0">
              <a:buNone/>
            </a:pPr>
            <a:r>
              <a:rPr lang="en-US" sz="800" i="1" dirty="0">
                <a:solidFill>
                  <a:srgbClr val="15803D"/>
                </a:solidFill>
              </a:rPr>
              <a:t>significant gain</a:t>
            </a:r>
            <a:endParaRPr lang="en-US" sz="800" dirty="0"/>
          </a:p>
        </p:txBody>
      </p:sp>
      <p:sp>
        <p:nvSpPr>
          <p:cNvPr id="37" name="Shape 35"/>
          <p:cNvSpPr/>
          <p:nvPr/>
        </p:nvSpPr>
        <p:spPr>
          <a:xfrm>
            <a:off x="347472" y="4828032"/>
            <a:ext cx="8503920" cy="146304"/>
          </a:xfrm>
          <a:prstGeom prst="rect">
            <a:avLst/>
          </a:prstGeom>
          <a:solidFill>
            <a:srgbClr val="E6F4F2"/>
          </a:solidFill>
          <a:ln w="12700">
            <a:solidFill>
              <a:srgbClr val="E6F4F2"/>
            </a:solidFill>
            <a:prstDash val="solid"/>
          </a:ln>
        </p:spPr>
      </p:sp>
      <p:sp>
        <p:nvSpPr>
          <p:cNvPr id="38" name="Text 36"/>
          <p:cNvSpPr/>
          <p:nvPr/>
        </p:nvSpPr>
        <p:spPr>
          <a:xfrm>
            <a:off x="457200" y="4828032"/>
            <a:ext cx="8321040" cy="146304"/>
          </a:xfrm>
          <a:prstGeom prst="rect">
            <a:avLst/>
          </a:prstGeom>
          <a:noFill/>
          <a:ln/>
        </p:spPr>
        <p:txBody>
          <a:bodyPr wrap="square" lIns="0" tIns="0" rIns="0" bIns="0" rtlCol="0" anchor="ctr"/>
          <a:lstStyle/>
          <a:p>
            <a:pPr indent="0" marL="0">
              <a:buNone/>
            </a:pPr>
            <a:r>
              <a:rPr lang="en-US" sz="800" i="1" dirty="0">
                <a:solidFill>
                  <a:srgbClr val="0D7A6E"/>
                </a:solidFill>
              </a:rPr>
              <a:t>The PSNR difference reflects the removed multipliers. The SSIM gain of +0.037 is a genuine structural improvement driven by the SE Attention block — this is the headline result.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3557"/>
          </a:solidFill>
          <a:ln w="12700">
            <a:solidFill>
              <a:srgbClr val="1A3557"/>
            </a:solidFill>
            <a:prstDash val="solid"/>
          </a:ln>
        </p:spPr>
      </p:sp>
      <p:sp>
        <p:nvSpPr>
          <p:cNvPr id="3" name="Text 1"/>
          <p:cNvSpPr/>
          <p:nvPr/>
        </p:nvSpPr>
        <p:spPr>
          <a:xfrm>
            <a:off x="347472" y="256032"/>
            <a:ext cx="8595360" cy="256032"/>
          </a:xfrm>
          <a:prstGeom prst="rect">
            <a:avLst/>
          </a:prstGeom>
          <a:noFill/>
          <a:ln/>
        </p:spPr>
        <p:txBody>
          <a:bodyPr wrap="square" lIns="0" tIns="0" rIns="0" bIns="0" rtlCol="0" anchor="ctr"/>
          <a:lstStyle/>
          <a:p>
            <a:pPr indent="0" marL="0">
              <a:buNone/>
            </a:pPr>
            <a:r>
              <a:rPr lang="en-US" sz="850" b="1" spc="350" kern="0" dirty="0">
                <a:solidFill>
                  <a:srgbClr val="0D7A6E"/>
                </a:solidFill>
              </a:rPr>
              <a:t>VISUAL RESULTS — SAMPLES 1 &amp; 2</a:t>
            </a:r>
            <a:endParaRPr lang="en-US" sz="850" dirty="0"/>
          </a:p>
        </p:txBody>
      </p:sp>
      <p:sp>
        <p:nvSpPr>
          <p:cNvPr id="4" name="Text 2"/>
          <p:cNvSpPr/>
          <p:nvPr/>
        </p:nvSpPr>
        <p:spPr>
          <a:xfrm>
            <a:off x="347472" y="502920"/>
            <a:ext cx="8595360" cy="566928"/>
          </a:xfrm>
          <a:prstGeom prst="rect">
            <a:avLst/>
          </a:prstGeom>
          <a:noFill/>
          <a:ln/>
        </p:spPr>
        <p:txBody>
          <a:bodyPr wrap="square" lIns="0" tIns="0" rIns="0" bIns="0" rtlCol="0" anchor="ctr"/>
          <a:lstStyle/>
          <a:p>
            <a:pPr indent="0" marL="0">
              <a:buNone/>
            </a:pPr>
            <a:r>
              <a:rPr lang="en-US" sz="2600" b="1" dirty="0">
                <a:solidFill>
                  <a:srgbClr val="1A3557"/>
                </a:solidFill>
              </a:rPr>
              <a:t>Input → Enhanced Output → Ground Truth</a:t>
            </a:r>
            <a:endParaRPr lang="en-US" sz="2600" dirty="0"/>
          </a:p>
        </p:txBody>
      </p:sp>
      <p:sp>
        <p:nvSpPr>
          <p:cNvPr id="5" name="Shape 3"/>
          <p:cNvSpPr/>
          <p:nvPr/>
        </p:nvSpPr>
        <p:spPr>
          <a:xfrm>
            <a:off x="347472" y="1097280"/>
            <a:ext cx="8503920" cy="0"/>
          </a:xfrm>
          <a:prstGeom prst="line">
            <a:avLst/>
          </a:prstGeom>
          <a:noFill/>
          <a:ln w="9525">
            <a:solidFill>
              <a:srgbClr val="D1D5DB"/>
            </a:solidFill>
            <a:prstDash val="solid"/>
          </a:ln>
        </p:spPr>
      </p:sp>
      <p:sp>
        <p:nvSpPr>
          <p:cNvPr id="6" name="Shape 4"/>
          <p:cNvSpPr/>
          <p:nvPr/>
        </p:nvSpPr>
        <p:spPr>
          <a:xfrm>
            <a:off x="0" y="5010912"/>
            <a:ext cx="9144000" cy="132588"/>
          </a:xfrm>
          <a:prstGeom prst="rect">
            <a:avLst/>
          </a:prstGeom>
          <a:solidFill>
            <a:srgbClr val="1A3557"/>
          </a:solidFill>
          <a:ln w="12700">
            <a:solidFill>
              <a:srgbClr val="1A3557"/>
            </a:solidFill>
            <a:prstDash val="solid"/>
          </a:ln>
        </p:spPr>
      </p:sp>
      <p:sp>
        <p:nvSpPr>
          <p:cNvPr id="7" name="Text 5"/>
          <p:cNvSpPr/>
          <p:nvPr/>
        </p:nvSpPr>
        <p:spPr>
          <a:xfrm>
            <a:off x="347472" y="5018227"/>
            <a:ext cx="7772400" cy="109728"/>
          </a:xfrm>
          <a:prstGeom prst="rect">
            <a:avLst/>
          </a:prstGeom>
          <a:noFill/>
          <a:ln/>
        </p:spPr>
        <p:txBody>
          <a:bodyPr wrap="square" lIns="0" tIns="0" rIns="0" bIns="0" rtlCol="0" anchor="ctr"/>
          <a:lstStyle/>
          <a:p>
            <a:pPr indent="0" marL="0">
              <a:buNone/>
            </a:pPr>
            <a:r>
              <a:rPr lang="en-US" sz="750" dirty="0">
                <a:solidFill>
                  <a:srgbClr val="ADBDD0"/>
                </a:solidFill>
              </a:rPr>
              <a:t>B.Dhanush  |  23bce9640  |  WWE-UIE Enhanced v2  |  UFO-120 Dataset</a:t>
            </a:r>
            <a:endParaRPr lang="en-US" sz="750" dirty="0"/>
          </a:p>
        </p:txBody>
      </p:sp>
      <p:sp>
        <p:nvSpPr>
          <p:cNvPr id="8" name="Text 6"/>
          <p:cNvSpPr/>
          <p:nvPr/>
        </p:nvSpPr>
        <p:spPr>
          <a:xfrm>
            <a:off x="8138160" y="5018227"/>
            <a:ext cx="822960" cy="109728"/>
          </a:xfrm>
          <a:prstGeom prst="rect">
            <a:avLst/>
          </a:prstGeom>
          <a:noFill/>
          <a:ln/>
        </p:spPr>
        <p:txBody>
          <a:bodyPr wrap="square" lIns="0" tIns="0" rIns="0" bIns="0" rtlCol="0" anchor="ctr"/>
          <a:lstStyle/>
          <a:p>
            <a:pPr algn="r" indent="0" marL="0">
              <a:buNone/>
            </a:pPr>
            <a:r>
              <a:rPr lang="en-US" sz="750" dirty="0">
                <a:solidFill>
                  <a:srgbClr val="ADBDD0"/>
                </a:solidFill>
              </a:rPr>
              <a:t>7 / 10</a:t>
            </a:r>
            <a:endParaRPr lang="en-US" sz="750" dirty="0"/>
          </a:p>
        </p:txBody>
      </p:sp>
      <p:sp>
        <p:nvSpPr>
          <p:cNvPr id="9" name="Text 7"/>
          <p:cNvSpPr/>
          <p:nvPr/>
        </p:nvSpPr>
        <p:spPr>
          <a:xfrm>
            <a:off x="347472" y="1170432"/>
            <a:ext cx="8503920" cy="347472"/>
          </a:xfrm>
          <a:prstGeom prst="rect">
            <a:avLst/>
          </a:prstGeom>
          <a:noFill/>
          <a:ln/>
        </p:spPr>
        <p:txBody>
          <a:bodyPr wrap="square" lIns="0" tIns="0" rIns="0" bIns="0" rtlCol="0" anchor="ctr"/>
          <a:lstStyle/>
          <a:p>
            <a:pPr indent="0" marL="0">
              <a:buNone/>
            </a:pPr>
            <a:r>
              <a:rPr lang="en-US" sz="1050" i="1" dirty="0">
                <a:solidFill>
                  <a:srgbClr val="6B7280"/>
                </a:solidFill>
              </a:rPr>
              <a:t>Each triplet shows: raw degraded input (left) · my model's enhanced output (centre) · reference ground truth (right). The model was never shown the ground truth during training.</a:t>
            </a:r>
            <a:endParaRPr lang="en-US" sz="1050" dirty="0"/>
          </a:p>
        </p:txBody>
      </p:sp>
      <p:sp>
        <p:nvSpPr>
          <p:cNvPr id="10" name="Shape 8"/>
          <p:cNvSpPr/>
          <p:nvPr/>
        </p:nvSpPr>
        <p:spPr>
          <a:xfrm>
            <a:off x="347472" y="1554480"/>
            <a:ext cx="2724912" cy="274320"/>
          </a:xfrm>
          <a:prstGeom prst="rect">
            <a:avLst/>
          </a:prstGeom>
          <a:solidFill>
            <a:srgbClr val="F3F4F6"/>
          </a:solidFill>
          <a:ln w="12700">
            <a:solidFill>
              <a:srgbClr val="D1D5DB"/>
            </a:solidFill>
            <a:prstDash val="solid"/>
          </a:ln>
        </p:spPr>
      </p:sp>
      <p:sp>
        <p:nvSpPr>
          <p:cNvPr id="11" name="Text 9"/>
          <p:cNvSpPr/>
          <p:nvPr/>
        </p:nvSpPr>
        <p:spPr>
          <a:xfrm>
            <a:off x="347472" y="1572768"/>
            <a:ext cx="2724912" cy="237744"/>
          </a:xfrm>
          <a:prstGeom prst="rect">
            <a:avLst/>
          </a:prstGeom>
          <a:noFill/>
          <a:ln/>
        </p:spPr>
        <p:txBody>
          <a:bodyPr wrap="square" lIns="0" tIns="0" rIns="0" bIns="0" rtlCol="0" anchor="ctr"/>
          <a:lstStyle/>
          <a:p>
            <a:pPr algn="ctr" indent="0" marL="0">
              <a:buNone/>
            </a:pPr>
            <a:r>
              <a:rPr lang="en-US" sz="850" b="1" dirty="0">
                <a:solidFill>
                  <a:srgbClr val="374151"/>
                </a:solidFill>
              </a:rPr>
              <a:t>INPUT (Degraded)</a:t>
            </a:r>
            <a:endParaRPr lang="en-US" sz="850" dirty="0"/>
          </a:p>
        </p:txBody>
      </p:sp>
      <p:sp>
        <p:nvSpPr>
          <p:cNvPr id="12" name="Shape 10"/>
          <p:cNvSpPr/>
          <p:nvPr/>
        </p:nvSpPr>
        <p:spPr>
          <a:xfrm>
            <a:off x="3200400" y="1554480"/>
            <a:ext cx="2724912" cy="274320"/>
          </a:xfrm>
          <a:prstGeom prst="rect">
            <a:avLst/>
          </a:prstGeom>
          <a:solidFill>
            <a:srgbClr val="E6F4F2"/>
          </a:solidFill>
          <a:ln w="12700">
            <a:solidFill>
              <a:srgbClr val="D1D5DB"/>
            </a:solidFill>
            <a:prstDash val="solid"/>
          </a:ln>
        </p:spPr>
      </p:sp>
      <p:sp>
        <p:nvSpPr>
          <p:cNvPr id="13" name="Text 11"/>
          <p:cNvSpPr/>
          <p:nvPr/>
        </p:nvSpPr>
        <p:spPr>
          <a:xfrm>
            <a:off x="3200400" y="1572768"/>
            <a:ext cx="2724912" cy="237744"/>
          </a:xfrm>
          <a:prstGeom prst="rect">
            <a:avLst/>
          </a:prstGeom>
          <a:noFill/>
          <a:ln/>
        </p:spPr>
        <p:txBody>
          <a:bodyPr wrap="square" lIns="0" tIns="0" rIns="0" bIns="0" rtlCol="0" anchor="ctr"/>
          <a:lstStyle/>
          <a:p>
            <a:pPr algn="ctr" indent="0" marL="0">
              <a:buNone/>
            </a:pPr>
            <a:r>
              <a:rPr lang="en-US" sz="850" b="1" dirty="0">
                <a:solidFill>
                  <a:srgbClr val="0D7A6E"/>
                </a:solidFill>
              </a:rPr>
              <a:t>MY OUTPUT (Enhanced)</a:t>
            </a:r>
            <a:endParaRPr lang="en-US" sz="850" dirty="0"/>
          </a:p>
        </p:txBody>
      </p:sp>
      <p:sp>
        <p:nvSpPr>
          <p:cNvPr id="14" name="Shape 12"/>
          <p:cNvSpPr/>
          <p:nvPr/>
        </p:nvSpPr>
        <p:spPr>
          <a:xfrm>
            <a:off x="6053328" y="1554480"/>
            <a:ext cx="2724912" cy="274320"/>
          </a:xfrm>
          <a:prstGeom prst="rect">
            <a:avLst/>
          </a:prstGeom>
          <a:solidFill>
            <a:srgbClr val="DCFCE7"/>
          </a:solidFill>
          <a:ln w="12700">
            <a:solidFill>
              <a:srgbClr val="D1D5DB"/>
            </a:solidFill>
            <a:prstDash val="solid"/>
          </a:ln>
        </p:spPr>
      </p:sp>
      <p:sp>
        <p:nvSpPr>
          <p:cNvPr id="15" name="Text 13"/>
          <p:cNvSpPr/>
          <p:nvPr/>
        </p:nvSpPr>
        <p:spPr>
          <a:xfrm>
            <a:off x="6053328" y="1572768"/>
            <a:ext cx="2724912" cy="237744"/>
          </a:xfrm>
          <a:prstGeom prst="rect">
            <a:avLst/>
          </a:prstGeom>
          <a:noFill/>
          <a:ln/>
        </p:spPr>
        <p:txBody>
          <a:bodyPr wrap="square" lIns="0" tIns="0" rIns="0" bIns="0" rtlCol="0" anchor="ctr"/>
          <a:lstStyle/>
          <a:p>
            <a:pPr algn="ctr" indent="0" marL="0">
              <a:buNone/>
            </a:pPr>
            <a:r>
              <a:rPr lang="en-US" sz="850" b="1" dirty="0">
                <a:solidFill>
                  <a:srgbClr val="15803D"/>
                </a:solidFill>
              </a:rPr>
              <a:t>GROUND TRUTH</a:t>
            </a:r>
            <a:endParaRPr lang="en-US" sz="850" dirty="0"/>
          </a:p>
        </p:txBody>
      </p:sp>
      <p:sp>
        <p:nvSpPr>
          <p:cNvPr id="16" name="Text 14"/>
          <p:cNvSpPr/>
          <p:nvPr/>
        </p:nvSpPr>
        <p:spPr>
          <a:xfrm>
            <a:off x="347472" y="1874520"/>
            <a:ext cx="3657600" cy="201168"/>
          </a:xfrm>
          <a:prstGeom prst="rect">
            <a:avLst/>
          </a:prstGeom>
          <a:noFill/>
          <a:ln/>
        </p:spPr>
        <p:txBody>
          <a:bodyPr wrap="square" lIns="0" tIns="0" rIns="0" bIns="0" rtlCol="0" anchor="ctr"/>
          <a:lstStyle/>
          <a:p>
            <a:pPr indent="0" marL="0">
              <a:buNone/>
            </a:pPr>
            <a:r>
              <a:rPr lang="en-US" sz="850" i="1" dirty="0">
                <a:solidFill>
                  <a:srgbClr val="6B7280"/>
                </a:solidFill>
              </a:rPr>
              <a:t>Sample 1 — Coral reef with jellyfish</a:t>
            </a:r>
            <a:endParaRPr lang="en-US" sz="850" dirty="0"/>
          </a:p>
        </p:txBody>
      </p:sp>
      <p:pic>
        <p:nvPicPr>
          <p:cNvPr id="17" name="Image 0" descr="preencoded.png"/>
          <p:cNvPicPr>
            <a:picLocks noChangeAspect="1"/>
          </p:cNvPicPr>
          <p:nvPr/>
        </p:nvPicPr>
        <p:blipFill>
          <a:blip r:embed="rId1"/>
          <a:stretch>
            <a:fillRect/>
          </a:stretch>
        </p:blipFill>
        <p:spPr>
          <a:xfrm>
            <a:off x="347472" y="2084832"/>
            <a:ext cx="2724912" cy="1234440"/>
          </a:xfrm>
          <a:prstGeom prst="rect">
            <a:avLst/>
          </a:prstGeom>
        </p:spPr>
      </p:pic>
      <p:pic>
        <p:nvPicPr>
          <p:cNvPr id="18" name="Image 1" descr="preencoded.png"/>
          <p:cNvPicPr>
            <a:picLocks noChangeAspect="1"/>
          </p:cNvPicPr>
          <p:nvPr/>
        </p:nvPicPr>
        <p:blipFill>
          <a:blip r:embed="rId2"/>
          <a:stretch>
            <a:fillRect/>
          </a:stretch>
        </p:blipFill>
        <p:spPr>
          <a:xfrm>
            <a:off x="3200400" y="2084832"/>
            <a:ext cx="2724912" cy="1234440"/>
          </a:xfrm>
          <a:prstGeom prst="rect">
            <a:avLst/>
          </a:prstGeom>
        </p:spPr>
      </p:pic>
      <p:pic>
        <p:nvPicPr>
          <p:cNvPr id="19" name="Image 2" descr="preencoded.png"/>
          <p:cNvPicPr>
            <a:picLocks noChangeAspect="1"/>
          </p:cNvPicPr>
          <p:nvPr/>
        </p:nvPicPr>
        <p:blipFill>
          <a:blip r:embed="rId3"/>
          <a:stretch>
            <a:fillRect/>
          </a:stretch>
        </p:blipFill>
        <p:spPr>
          <a:xfrm>
            <a:off x="6053328" y="2084832"/>
            <a:ext cx="2724912" cy="1234440"/>
          </a:xfrm>
          <a:prstGeom prst="rect">
            <a:avLst/>
          </a:prstGeom>
        </p:spPr>
      </p:pic>
      <p:sp>
        <p:nvSpPr>
          <p:cNvPr id="20" name="Text 15"/>
          <p:cNvSpPr/>
          <p:nvPr/>
        </p:nvSpPr>
        <p:spPr>
          <a:xfrm>
            <a:off x="347472" y="3401568"/>
            <a:ext cx="3657600" cy="201168"/>
          </a:xfrm>
          <a:prstGeom prst="rect">
            <a:avLst/>
          </a:prstGeom>
          <a:noFill/>
          <a:ln/>
        </p:spPr>
        <p:txBody>
          <a:bodyPr wrap="square" lIns="0" tIns="0" rIns="0" bIns="0" rtlCol="0" anchor="ctr"/>
          <a:lstStyle/>
          <a:p>
            <a:pPr indent="0" marL="0">
              <a:buNone/>
            </a:pPr>
            <a:r>
              <a:rPr lang="en-US" sz="850" i="1" dirty="0">
                <a:solidFill>
                  <a:srgbClr val="6B7280"/>
                </a:solidFill>
              </a:rPr>
              <a:t>Sample 2 — Benthic fish (sandy floor)</a:t>
            </a:r>
            <a:endParaRPr lang="en-US" sz="850" dirty="0"/>
          </a:p>
        </p:txBody>
      </p:sp>
      <p:pic>
        <p:nvPicPr>
          <p:cNvPr id="21" name="Image 3" descr="preencoded.png"/>
          <p:cNvPicPr>
            <a:picLocks noChangeAspect="1"/>
          </p:cNvPicPr>
          <p:nvPr/>
        </p:nvPicPr>
        <p:blipFill>
          <a:blip r:embed="rId4"/>
          <a:stretch>
            <a:fillRect/>
          </a:stretch>
        </p:blipFill>
        <p:spPr>
          <a:xfrm>
            <a:off x="347472" y="3611880"/>
            <a:ext cx="2724912" cy="1234440"/>
          </a:xfrm>
          <a:prstGeom prst="rect">
            <a:avLst/>
          </a:prstGeom>
        </p:spPr>
      </p:pic>
      <p:pic>
        <p:nvPicPr>
          <p:cNvPr id="22" name="Image 4" descr="preencoded.png"/>
          <p:cNvPicPr>
            <a:picLocks noChangeAspect="1"/>
          </p:cNvPicPr>
          <p:nvPr/>
        </p:nvPicPr>
        <p:blipFill>
          <a:blip r:embed="rId5"/>
          <a:stretch>
            <a:fillRect/>
          </a:stretch>
        </p:blipFill>
        <p:spPr>
          <a:xfrm>
            <a:off x="3200400" y="3611880"/>
            <a:ext cx="2724912" cy="1234440"/>
          </a:xfrm>
          <a:prstGeom prst="rect">
            <a:avLst/>
          </a:prstGeom>
        </p:spPr>
      </p:pic>
      <p:pic>
        <p:nvPicPr>
          <p:cNvPr id="23" name="Image 5" descr="preencoded.png"/>
          <p:cNvPicPr>
            <a:picLocks noChangeAspect="1"/>
          </p:cNvPicPr>
          <p:nvPr/>
        </p:nvPicPr>
        <p:blipFill>
          <a:blip r:embed="rId6"/>
          <a:stretch>
            <a:fillRect/>
          </a:stretch>
        </p:blipFill>
        <p:spPr>
          <a:xfrm>
            <a:off x="6053328" y="3611880"/>
            <a:ext cx="2724912" cy="1234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3557"/>
          </a:solidFill>
          <a:ln w="12700">
            <a:solidFill>
              <a:srgbClr val="1A3557"/>
            </a:solidFill>
            <a:prstDash val="solid"/>
          </a:ln>
        </p:spPr>
      </p:sp>
      <p:sp>
        <p:nvSpPr>
          <p:cNvPr id="3" name="Text 1"/>
          <p:cNvSpPr/>
          <p:nvPr/>
        </p:nvSpPr>
        <p:spPr>
          <a:xfrm>
            <a:off x="347472" y="256032"/>
            <a:ext cx="8595360" cy="256032"/>
          </a:xfrm>
          <a:prstGeom prst="rect">
            <a:avLst/>
          </a:prstGeom>
          <a:noFill/>
          <a:ln/>
        </p:spPr>
        <p:txBody>
          <a:bodyPr wrap="square" lIns="0" tIns="0" rIns="0" bIns="0" rtlCol="0" anchor="ctr"/>
          <a:lstStyle/>
          <a:p>
            <a:pPr indent="0" marL="0">
              <a:buNone/>
            </a:pPr>
            <a:r>
              <a:rPr lang="en-US" sz="850" b="1" spc="350" kern="0" dirty="0">
                <a:solidFill>
                  <a:srgbClr val="0D7A6E"/>
                </a:solidFill>
              </a:rPr>
              <a:t>VISUAL RESULTS — SAMPLES 3 &amp; 4</a:t>
            </a:r>
            <a:endParaRPr lang="en-US" sz="850" dirty="0"/>
          </a:p>
        </p:txBody>
      </p:sp>
      <p:sp>
        <p:nvSpPr>
          <p:cNvPr id="4" name="Text 2"/>
          <p:cNvSpPr/>
          <p:nvPr/>
        </p:nvSpPr>
        <p:spPr>
          <a:xfrm>
            <a:off x="347472" y="502920"/>
            <a:ext cx="8595360" cy="566928"/>
          </a:xfrm>
          <a:prstGeom prst="rect">
            <a:avLst/>
          </a:prstGeom>
          <a:noFill/>
          <a:ln/>
        </p:spPr>
        <p:txBody>
          <a:bodyPr wrap="square" lIns="0" tIns="0" rIns="0" bIns="0" rtlCol="0" anchor="ctr"/>
          <a:lstStyle/>
          <a:p>
            <a:pPr indent="0" marL="0">
              <a:buNone/>
            </a:pPr>
            <a:r>
              <a:rPr lang="en-US" sz="2600" b="1" dirty="0">
                <a:solidFill>
                  <a:srgbClr val="1A3557"/>
                </a:solidFill>
              </a:rPr>
              <a:t>Input → Enhanced Output → Ground Truth</a:t>
            </a:r>
            <a:endParaRPr lang="en-US" sz="2600" dirty="0"/>
          </a:p>
        </p:txBody>
      </p:sp>
      <p:sp>
        <p:nvSpPr>
          <p:cNvPr id="5" name="Shape 3"/>
          <p:cNvSpPr/>
          <p:nvPr/>
        </p:nvSpPr>
        <p:spPr>
          <a:xfrm>
            <a:off x="347472" y="1097280"/>
            <a:ext cx="8503920" cy="0"/>
          </a:xfrm>
          <a:prstGeom prst="line">
            <a:avLst/>
          </a:prstGeom>
          <a:noFill/>
          <a:ln w="9525">
            <a:solidFill>
              <a:srgbClr val="D1D5DB"/>
            </a:solidFill>
            <a:prstDash val="solid"/>
          </a:ln>
        </p:spPr>
      </p:sp>
      <p:sp>
        <p:nvSpPr>
          <p:cNvPr id="6" name="Shape 4"/>
          <p:cNvSpPr/>
          <p:nvPr/>
        </p:nvSpPr>
        <p:spPr>
          <a:xfrm>
            <a:off x="0" y="5010912"/>
            <a:ext cx="9144000" cy="132588"/>
          </a:xfrm>
          <a:prstGeom prst="rect">
            <a:avLst/>
          </a:prstGeom>
          <a:solidFill>
            <a:srgbClr val="1A3557"/>
          </a:solidFill>
          <a:ln w="12700">
            <a:solidFill>
              <a:srgbClr val="1A3557"/>
            </a:solidFill>
            <a:prstDash val="solid"/>
          </a:ln>
        </p:spPr>
      </p:sp>
      <p:sp>
        <p:nvSpPr>
          <p:cNvPr id="7" name="Text 5"/>
          <p:cNvSpPr/>
          <p:nvPr/>
        </p:nvSpPr>
        <p:spPr>
          <a:xfrm>
            <a:off x="347472" y="5018227"/>
            <a:ext cx="7772400" cy="109728"/>
          </a:xfrm>
          <a:prstGeom prst="rect">
            <a:avLst/>
          </a:prstGeom>
          <a:noFill/>
          <a:ln/>
        </p:spPr>
        <p:txBody>
          <a:bodyPr wrap="square" lIns="0" tIns="0" rIns="0" bIns="0" rtlCol="0" anchor="ctr"/>
          <a:lstStyle/>
          <a:p>
            <a:pPr indent="0" marL="0">
              <a:buNone/>
            </a:pPr>
            <a:r>
              <a:rPr lang="en-US" sz="750" dirty="0">
                <a:solidFill>
                  <a:srgbClr val="ADBDD0"/>
                </a:solidFill>
              </a:rPr>
              <a:t>B.Dhanush  |  23bce9640  |  WWE-UIE Enhanced v2  |  UFO-120 Dataset</a:t>
            </a:r>
            <a:endParaRPr lang="en-US" sz="750" dirty="0"/>
          </a:p>
        </p:txBody>
      </p:sp>
      <p:sp>
        <p:nvSpPr>
          <p:cNvPr id="8" name="Text 6"/>
          <p:cNvSpPr/>
          <p:nvPr/>
        </p:nvSpPr>
        <p:spPr>
          <a:xfrm>
            <a:off x="8138160" y="5018227"/>
            <a:ext cx="822960" cy="109728"/>
          </a:xfrm>
          <a:prstGeom prst="rect">
            <a:avLst/>
          </a:prstGeom>
          <a:noFill/>
          <a:ln/>
        </p:spPr>
        <p:txBody>
          <a:bodyPr wrap="square" lIns="0" tIns="0" rIns="0" bIns="0" rtlCol="0" anchor="ctr"/>
          <a:lstStyle/>
          <a:p>
            <a:pPr algn="r" indent="0" marL="0">
              <a:buNone/>
            </a:pPr>
            <a:r>
              <a:rPr lang="en-US" sz="750" dirty="0">
                <a:solidFill>
                  <a:srgbClr val="ADBDD0"/>
                </a:solidFill>
              </a:rPr>
              <a:t>8 / 10</a:t>
            </a:r>
            <a:endParaRPr lang="en-US" sz="750" dirty="0"/>
          </a:p>
        </p:txBody>
      </p:sp>
      <p:sp>
        <p:nvSpPr>
          <p:cNvPr id="9" name="Text 7"/>
          <p:cNvSpPr/>
          <p:nvPr/>
        </p:nvSpPr>
        <p:spPr>
          <a:xfrm>
            <a:off x="347472" y="1170432"/>
            <a:ext cx="8503920" cy="347472"/>
          </a:xfrm>
          <a:prstGeom prst="rect">
            <a:avLst/>
          </a:prstGeom>
          <a:noFill/>
          <a:ln/>
        </p:spPr>
        <p:txBody>
          <a:bodyPr wrap="square" lIns="0" tIns="0" rIns="0" bIns="0" rtlCol="0" anchor="ctr"/>
          <a:lstStyle/>
          <a:p>
            <a:pPr indent="0" marL="0">
              <a:buNone/>
            </a:pPr>
            <a:r>
              <a:rPr lang="en-US" sz="1050" i="1" dirty="0">
                <a:solidFill>
                  <a:srgbClr val="6B7280"/>
                </a:solidFill>
              </a:rPr>
              <a:t>Notice how the model restores warm coral tones, recovers depth cues, and sharpens structural edges — all simultaneously and in a single forward pass.</a:t>
            </a:r>
            <a:endParaRPr lang="en-US" sz="1050" dirty="0"/>
          </a:p>
        </p:txBody>
      </p:sp>
      <p:sp>
        <p:nvSpPr>
          <p:cNvPr id="10" name="Shape 8"/>
          <p:cNvSpPr/>
          <p:nvPr/>
        </p:nvSpPr>
        <p:spPr>
          <a:xfrm>
            <a:off x="347472" y="1554480"/>
            <a:ext cx="2724912" cy="274320"/>
          </a:xfrm>
          <a:prstGeom prst="rect">
            <a:avLst/>
          </a:prstGeom>
          <a:solidFill>
            <a:srgbClr val="F3F4F6"/>
          </a:solidFill>
          <a:ln w="12700">
            <a:solidFill>
              <a:srgbClr val="D1D5DB"/>
            </a:solidFill>
            <a:prstDash val="solid"/>
          </a:ln>
        </p:spPr>
      </p:sp>
      <p:sp>
        <p:nvSpPr>
          <p:cNvPr id="11" name="Text 9"/>
          <p:cNvSpPr/>
          <p:nvPr/>
        </p:nvSpPr>
        <p:spPr>
          <a:xfrm>
            <a:off x="347472" y="1572768"/>
            <a:ext cx="2724912" cy="237744"/>
          </a:xfrm>
          <a:prstGeom prst="rect">
            <a:avLst/>
          </a:prstGeom>
          <a:noFill/>
          <a:ln/>
        </p:spPr>
        <p:txBody>
          <a:bodyPr wrap="square" lIns="0" tIns="0" rIns="0" bIns="0" rtlCol="0" anchor="ctr"/>
          <a:lstStyle/>
          <a:p>
            <a:pPr algn="ctr" indent="0" marL="0">
              <a:buNone/>
            </a:pPr>
            <a:r>
              <a:rPr lang="en-US" sz="850" b="1" dirty="0">
                <a:solidFill>
                  <a:srgbClr val="374151"/>
                </a:solidFill>
              </a:rPr>
              <a:t>INPUT (Degraded)</a:t>
            </a:r>
            <a:endParaRPr lang="en-US" sz="850" dirty="0"/>
          </a:p>
        </p:txBody>
      </p:sp>
      <p:sp>
        <p:nvSpPr>
          <p:cNvPr id="12" name="Shape 10"/>
          <p:cNvSpPr/>
          <p:nvPr/>
        </p:nvSpPr>
        <p:spPr>
          <a:xfrm>
            <a:off x="3200400" y="1554480"/>
            <a:ext cx="2724912" cy="274320"/>
          </a:xfrm>
          <a:prstGeom prst="rect">
            <a:avLst/>
          </a:prstGeom>
          <a:solidFill>
            <a:srgbClr val="E6F4F2"/>
          </a:solidFill>
          <a:ln w="12700">
            <a:solidFill>
              <a:srgbClr val="D1D5DB"/>
            </a:solidFill>
            <a:prstDash val="solid"/>
          </a:ln>
        </p:spPr>
      </p:sp>
      <p:sp>
        <p:nvSpPr>
          <p:cNvPr id="13" name="Text 11"/>
          <p:cNvSpPr/>
          <p:nvPr/>
        </p:nvSpPr>
        <p:spPr>
          <a:xfrm>
            <a:off x="3200400" y="1572768"/>
            <a:ext cx="2724912" cy="237744"/>
          </a:xfrm>
          <a:prstGeom prst="rect">
            <a:avLst/>
          </a:prstGeom>
          <a:noFill/>
          <a:ln/>
        </p:spPr>
        <p:txBody>
          <a:bodyPr wrap="square" lIns="0" tIns="0" rIns="0" bIns="0" rtlCol="0" anchor="ctr"/>
          <a:lstStyle/>
          <a:p>
            <a:pPr algn="ctr" indent="0" marL="0">
              <a:buNone/>
            </a:pPr>
            <a:r>
              <a:rPr lang="en-US" sz="850" b="1" dirty="0">
                <a:solidFill>
                  <a:srgbClr val="0D7A6E"/>
                </a:solidFill>
              </a:rPr>
              <a:t>MY OUTPUT (Enhanced)</a:t>
            </a:r>
            <a:endParaRPr lang="en-US" sz="850" dirty="0"/>
          </a:p>
        </p:txBody>
      </p:sp>
      <p:sp>
        <p:nvSpPr>
          <p:cNvPr id="14" name="Shape 12"/>
          <p:cNvSpPr/>
          <p:nvPr/>
        </p:nvSpPr>
        <p:spPr>
          <a:xfrm>
            <a:off x="6053328" y="1554480"/>
            <a:ext cx="2724912" cy="274320"/>
          </a:xfrm>
          <a:prstGeom prst="rect">
            <a:avLst/>
          </a:prstGeom>
          <a:solidFill>
            <a:srgbClr val="DCFCE7"/>
          </a:solidFill>
          <a:ln w="12700">
            <a:solidFill>
              <a:srgbClr val="D1D5DB"/>
            </a:solidFill>
            <a:prstDash val="solid"/>
          </a:ln>
        </p:spPr>
      </p:sp>
      <p:sp>
        <p:nvSpPr>
          <p:cNvPr id="15" name="Text 13"/>
          <p:cNvSpPr/>
          <p:nvPr/>
        </p:nvSpPr>
        <p:spPr>
          <a:xfrm>
            <a:off x="6053328" y="1572768"/>
            <a:ext cx="2724912" cy="237744"/>
          </a:xfrm>
          <a:prstGeom prst="rect">
            <a:avLst/>
          </a:prstGeom>
          <a:noFill/>
          <a:ln/>
        </p:spPr>
        <p:txBody>
          <a:bodyPr wrap="square" lIns="0" tIns="0" rIns="0" bIns="0" rtlCol="0" anchor="ctr"/>
          <a:lstStyle/>
          <a:p>
            <a:pPr algn="ctr" indent="0" marL="0">
              <a:buNone/>
            </a:pPr>
            <a:r>
              <a:rPr lang="en-US" sz="850" b="1" dirty="0">
                <a:solidFill>
                  <a:srgbClr val="15803D"/>
                </a:solidFill>
              </a:rPr>
              <a:t>GROUND TRUTH</a:t>
            </a:r>
            <a:endParaRPr lang="en-US" sz="850" dirty="0"/>
          </a:p>
        </p:txBody>
      </p:sp>
      <p:sp>
        <p:nvSpPr>
          <p:cNvPr id="16" name="Text 14"/>
          <p:cNvSpPr/>
          <p:nvPr/>
        </p:nvSpPr>
        <p:spPr>
          <a:xfrm>
            <a:off x="347472" y="1874520"/>
            <a:ext cx="4572000" cy="201168"/>
          </a:xfrm>
          <a:prstGeom prst="rect">
            <a:avLst/>
          </a:prstGeom>
          <a:noFill/>
          <a:ln/>
        </p:spPr>
        <p:txBody>
          <a:bodyPr wrap="square" lIns="0" tIns="0" rIns="0" bIns="0" rtlCol="0" anchor="ctr"/>
          <a:lstStyle/>
          <a:p>
            <a:pPr indent="0" marL="0">
              <a:buNone/>
            </a:pPr>
            <a:r>
              <a:rPr lang="en-US" sz="850" i="1" dirty="0">
                <a:solidFill>
                  <a:srgbClr val="6B7280"/>
                </a:solidFill>
              </a:rPr>
              <a:t>Sample 3 — Dense coral reef wall</a:t>
            </a:r>
            <a:endParaRPr lang="en-US" sz="850" dirty="0"/>
          </a:p>
        </p:txBody>
      </p:sp>
      <p:pic>
        <p:nvPicPr>
          <p:cNvPr id="17" name="Image 0" descr="preencoded.png"/>
          <p:cNvPicPr>
            <a:picLocks noChangeAspect="1"/>
          </p:cNvPicPr>
          <p:nvPr/>
        </p:nvPicPr>
        <p:blipFill>
          <a:blip r:embed="rId1"/>
          <a:stretch>
            <a:fillRect/>
          </a:stretch>
        </p:blipFill>
        <p:spPr>
          <a:xfrm>
            <a:off x="347472" y="2084832"/>
            <a:ext cx="2724912" cy="1234440"/>
          </a:xfrm>
          <a:prstGeom prst="rect">
            <a:avLst/>
          </a:prstGeom>
        </p:spPr>
      </p:pic>
      <p:pic>
        <p:nvPicPr>
          <p:cNvPr id="18" name="Image 1" descr="preencoded.png"/>
          <p:cNvPicPr>
            <a:picLocks noChangeAspect="1"/>
          </p:cNvPicPr>
          <p:nvPr/>
        </p:nvPicPr>
        <p:blipFill>
          <a:blip r:embed="rId2"/>
          <a:stretch>
            <a:fillRect/>
          </a:stretch>
        </p:blipFill>
        <p:spPr>
          <a:xfrm>
            <a:off x="3200400" y="2084832"/>
            <a:ext cx="2724912" cy="1234440"/>
          </a:xfrm>
          <a:prstGeom prst="rect">
            <a:avLst/>
          </a:prstGeom>
        </p:spPr>
      </p:pic>
      <p:pic>
        <p:nvPicPr>
          <p:cNvPr id="19" name="Image 2" descr="preencoded.png"/>
          <p:cNvPicPr>
            <a:picLocks noChangeAspect="1"/>
          </p:cNvPicPr>
          <p:nvPr/>
        </p:nvPicPr>
        <p:blipFill>
          <a:blip r:embed="rId3"/>
          <a:stretch>
            <a:fillRect/>
          </a:stretch>
        </p:blipFill>
        <p:spPr>
          <a:xfrm>
            <a:off x="6053328" y="2084832"/>
            <a:ext cx="2724912" cy="1234440"/>
          </a:xfrm>
          <a:prstGeom prst="rect">
            <a:avLst/>
          </a:prstGeom>
        </p:spPr>
      </p:pic>
      <p:sp>
        <p:nvSpPr>
          <p:cNvPr id="20" name="Text 15"/>
          <p:cNvSpPr/>
          <p:nvPr/>
        </p:nvSpPr>
        <p:spPr>
          <a:xfrm>
            <a:off x="347472" y="3401568"/>
            <a:ext cx="4572000" cy="201168"/>
          </a:xfrm>
          <a:prstGeom prst="rect">
            <a:avLst/>
          </a:prstGeom>
          <a:noFill/>
          <a:ln/>
        </p:spPr>
        <p:txBody>
          <a:bodyPr wrap="square" lIns="0" tIns="0" rIns="0" bIns="0" rtlCol="0" anchor="ctr"/>
          <a:lstStyle/>
          <a:p>
            <a:pPr indent="0" marL="0">
              <a:buNone/>
            </a:pPr>
            <a:r>
              <a:rPr lang="en-US" sz="850" i="1" dirty="0">
                <a:solidFill>
                  <a:srgbClr val="6B7280"/>
                </a:solidFill>
              </a:rPr>
              <a:t>Sample 4 — Open water schooling scene</a:t>
            </a:r>
            <a:endParaRPr lang="en-US" sz="850" dirty="0"/>
          </a:p>
        </p:txBody>
      </p:sp>
      <p:pic>
        <p:nvPicPr>
          <p:cNvPr id="21" name="Image 3" descr="preencoded.png"/>
          <p:cNvPicPr>
            <a:picLocks noChangeAspect="1"/>
          </p:cNvPicPr>
          <p:nvPr/>
        </p:nvPicPr>
        <p:blipFill>
          <a:blip r:embed="rId4"/>
          <a:stretch>
            <a:fillRect/>
          </a:stretch>
        </p:blipFill>
        <p:spPr>
          <a:xfrm>
            <a:off x="347472" y="3611880"/>
            <a:ext cx="2724912" cy="1234440"/>
          </a:xfrm>
          <a:prstGeom prst="rect">
            <a:avLst/>
          </a:prstGeom>
        </p:spPr>
      </p:pic>
      <p:pic>
        <p:nvPicPr>
          <p:cNvPr id="22" name="Image 4" descr="preencoded.png"/>
          <p:cNvPicPr>
            <a:picLocks noChangeAspect="1"/>
          </p:cNvPicPr>
          <p:nvPr/>
        </p:nvPicPr>
        <p:blipFill>
          <a:blip r:embed="rId5"/>
          <a:stretch>
            <a:fillRect/>
          </a:stretch>
        </p:blipFill>
        <p:spPr>
          <a:xfrm>
            <a:off x="3200400" y="3611880"/>
            <a:ext cx="2724912" cy="1234440"/>
          </a:xfrm>
          <a:prstGeom prst="rect">
            <a:avLst/>
          </a:prstGeom>
        </p:spPr>
      </p:pic>
      <p:pic>
        <p:nvPicPr>
          <p:cNvPr id="23" name="Image 5" descr="preencoded.png"/>
          <p:cNvPicPr>
            <a:picLocks noChangeAspect="1"/>
          </p:cNvPicPr>
          <p:nvPr/>
        </p:nvPicPr>
        <p:blipFill>
          <a:blip r:embed="rId6"/>
          <a:stretch>
            <a:fillRect/>
          </a:stretch>
        </p:blipFill>
        <p:spPr>
          <a:xfrm>
            <a:off x="6053328" y="3611880"/>
            <a:ext cx="2724912" cy="12344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3557"/>
          </a:solidFill>
          <a:ln w="12700">
            <a:solidFill>
              <a:srgbClr val="1A3557"/>
            </a:solidFill>
            <a:prstDash val="solid"/>
          </a:ln>
        </p:spPr>
      </p:sp>
      <p:sp>
        <p:nvSpPr>
          <p:cNvPr id="3" name="Text 1"/>
          <p:cNvSpPr/>
          <p:nvPr/>
        </p:nvSpPr>
        <p:spPr>
          <a:xfrm>
            <a:off x="347472" y="256032"/>
            <a:ext cx="8595360" cy="256032"/>
          </a:xfrm>
          <a:prstGeom prst="rect">
            <a:avLst/>
          </a:prstGeom>
          <a:noFill/>
          <a:ln/>
        </p:spPr>
        <p:txBody>
          <a:bodyPr wrap="square" lIns="0" tIns="0" rIns="0" bIns="0" rtlCol="0" anchor="ctr"/>
          <a:lstStyle/>
          <a:p>
            <a:pPr indent="0" marL="0">
              <a:buNone/>
            </a:pPr>
            <a:r>
              <a:rPr lang="en-US" sz="850" b="1" spc="350" kern="0" dirty="0">
                <a:solidFill>
                  <a:srgbClr val="0D7A6E"/>
                </a:solidFill>
              </a:rPr>
              <a:t>VISUAL RESULTS — SAMPLE 5 &amp; QUALITATIVE ANALYSIS</a:t>
            </a:r>
            <a:endParaRPr lang="en-US" sz="850" dirty="0"/>
          </a:p>
        </p:txBody>
      </p:sp>
      <p:sp>
        <p:nvSpPr>
          <p:cNvPr id="4" name="Text 2"/>
          <p:cNvSpPr/>
          <p:nvPr/>
        </p:nvSpPr>
        <p:spPr>
          <a:xfrm>
            <a:off x="347472" y="502920"/>
            <a:ext cx="8595360" cy="566928"/>
          </a:xfrm>
          <a:prstGeom prst="rect">
            <a:avLst/>
          </a:prstGeom>
          <a:noFill/>
          <a:ln/>
        </p:spPr>
        <p:txBody>
          <a:bodyPr wrap="square" lIns="0" tIns="0" rIns="0" bIns="0" rtlCol="0" anchor="ctr"/>
          <a:lstStyle/>
          <a:p>
            <a:pPr indent="0" marL="0">
              <a:buNone/>
            </a:pPr>
            <a:r>
              <a:rPr lang="en-US" sz="2600" b="1" dirty="0">
                <a:solidFill>
                  <a:srgbClr val="1A3557"/>
                </a:solidFill>
              </a:rPr>
              <a:t>What the Model Actually Learned to Do</a:t>
            </a:r>
            <a:endParaRPr lang="en-US" sz="2600" dirty="0"/>
          </a:p>
        </p:txBody>
      </p:sp>
      <p:sp>
        <p:nvSpPr>
          <p:cNvPr id="5" name="Shape 3"/>
          <p:cNvSpPr/>
          <p:nvPr/>
        </p:nvSpPr>
        <p:spPr>
          <a:xfrm>
            <a:off x="347472" y="1097280"/>
            <a:ext cx="8503920" cy="0"/>
          </a:xfrm>
          <a:prstGeom prst="line">
            <a:avLst/>
          </a:prstGeom>
          <a:noFill/>
          <a:ln w="9525">
            <a:solidFill>
              <a:srgbClr val="D1D5DB"/>
            </a:solidFill>
            <a:prstDash val="solid"/>
          </a:ln>
        </p:spPr>
      </p:sp>
      <p:sp>
        <p:nvSpPr>
          <p:cNvPr id="6" name="Shape 4"/>
          <p:cNvSpPr/>
          <p:nvPr/>
        </p:nvSpPr>
        <p:spPr>
          <a:xfrm>
            <a:off x="0" y="5010912"/>
            <a:ext cx="9144000" cy="132588"/>
          </a:xfrm>
          <a:prstGeom prst="rect">
            <a:avLst/>
          </a:prstGeom>
          <a:solidFill>
            <a:srgbClr val="1A3557"/>
          </a:solidFill>
          <a:ln w="12700">
            <a:solidFill>
              <a:srgbClr val="1A3557"/>
            </a:solidFill>
            <a:prstDash val="solid"/>
          </a:ln>
        </p:spPr>
      </p:sp>
      <p:sp>
        <p:nvSpPr>
          <p:cNvPr id="7" name="Text 5"/>
          <p:cNvSpPr/>
          <p:nvPr/>
        </p:nvSpPr>
        <p:spPr>
          <a:xfrm>
            <a:off x="347472" y="5018227"/>
            <a:ext cx="7772400" cy="109728"/>
          </a:xfrm>
          <a:prstGeom prst="rect">
            <a:avLst/>
          </a:prstGeom>
          <a:noFill/>
          <a:ln/>
        </p:spPr>
        <p:txBody>
          <a:bodyPr wrap="square" lIns="0" tIns="0" rIns="0" bIns="0" rtlCol="0" anchor="ctr"/>
          <a:lstStyle/>
          <a:p>
            <a:pPr indent="0" marL="0">
              <a:buNone/>
            </a:pPr>
            <a:r>
              <a:rPr lang="en-US" sz="750" dirty="0">
                <a:solidFill>
                  <a:srgbClr val="ADBDD0"/>
                </a:solidFill>
              </a:rPr>
              <a:t>B.Dhanush  |  23bce9640  |  WWE-UIE Enhanced v2  |  UFO-120 Dataset</a:t>
            </a:r>
            <a:endParaRPr lang="en-US" sz="750" dirty="0"/>
          </a:p>
        </p:txBody>
      </p:sp>
      <p:sp>
        <p:nvSpPr>
          <p:cNvPr id="8" name="Text 6"/>
          <p:cNvSpPr/>
          <p:nvPr/>
        </p:nvSpPr>
        <p:spPr>
          <a:xfrm>
            <a:off x="8138160" y="5018227"/>
            <a:ext cx="822960" cy="109728"/>
          </a:xfrm>
          <a:prstGeom prst="rect">
            <a:avLst/>
          </a:prstGeom>
          <a:noFill/>
          <a:ln/>
        </p:spPr>
        <p:txBody>
          <a:bodyPr wrap="square" lIns="0" tIns="0" rIns="0" bIns="0" rtlCol="0" anchor="ctr"/>
          <a:lstStyle/>
          <a:p>
            <a:pPr algn="r" indent="0" marL="0">
              <a:buNone/>
            </a:pPr>
            <a:r>
              <a:rPr lang="en-US" sz="750" dirty="0">
                <a:solidFill>
                  <a:srgbClr val="ADBDD0"/>
                </a:solidFill>
              </a:rPr>
              <a:t>9 / 10</a:t>
            </a:r>
            <a:endParaRPr lang="en-US" sz="750" dirty="0"/>
          </a:p>
        </p:txBody>
      </p:sp>
      <p:sp>
        <p:nvSpPr>
          <p:cNvPr id="9" name="Shape 7"/>
          <p:cNvSpPr/>
          <p:nvPr/>
        </p:nvSpPr>
        <p:spPr>
          <a:xfrm>
            <a:off x="347472" y="1188720"/>
            <a:ext cx="2724912" cy="274320"/>
          </a:xfrm>
          <a:prstGeom prst="rect">
            <a:avLst/>
          </a:prstGeom>
          <a:solidFill>
            <a:srgbClr val="F3F4F6"/>
          </a:solidFill>
          <a:ln w="12700">
            <a:solidFill>
              <a:srgbClr val="D1D5DB"/>
            </a:solidFill>
            <a:prstDash val="solid"/>
          </a:ln>
        </p:spPr>
      </p:sp>
      <p:sp>
        <p:nvSpPr>
          <p:cNvPr id="10" name="Text 8"/>
          <p:cNvSpPr/>
          <p:nvPr/>
        </p:nvSpPr>
        <p:spPr>
          <a:xfrm>
            <a:off x="347472" y="1207008"/>
            <a:ext cx="2724912" cy="237744"/>
          </a:xfrm>
          <a:prstGeom prst="rect">
            <a:avLst/>
          </a:prstGeom>
          <a:noFill/>
          <a:ln/>
        </p:spPr>
        <p:txBody>
          <a:bodyPr wrap="square" lIns="0" tIns="0" rIns="0" bIns="0" rtlCol="0" anchor="ctr"/>
          <a:lstStyle/>
          <a:p>
            <a:pPr algn="ctr" indent="0" marL="0">
              <a:buNone/>
            </a:pPr>
            <a:r>
              <a:rPr lang="en-US" sz="850" b="1" dirty="0">
                <a:solidFill>
                  <a:srgbClr val="374151"/>
                </a:solidFill>
              </a:rPr>
              <a:t>INPUT (Degraded)</a:t>
            </a:r>
            <a:endParaRPr lang="en-US" sz="850" dirty="0"/>
          </a:p>
        </p:txBody>
      </p:sp>
      <p:sp>
        <p:nvSpPr>
          <p:cNvPr id="11" name="Shape 9"/>
          <p:cNvSpPr/>
          <p:nvPr/>
        </p:nvSpPr>
        <p:spPr>
          <a:xfrm>
            <a:off x="3200400" y="1188720"/>
            <a:ext cx="2724912" cy="274320"/>
          </a:xfrm>
          <a:prstGeom prst="rect">
            <a:avLst/>
          </a:prstGeom>
          <a:solidFill>
            <a:srgbClr val="E6F4F2"/>
          </a:solidFill>
          <a:ln w="12700">
            <a:solidFill>
              <a:srgbClr val="D1D5DB"/>
            </a:solidFill>
            <a:prstDash val="solid"/>
          </a:ln>
        </p:spPr>
      </p:sp>
      <p:sp>
        <p:nvSpPr>
          <p:cNvPr id="12" name="Text 10"/>
          <p:cNvSpPr/>
          <p:nvPr/>
        </p:nvSpPr>
        <p:spPr>
          <a:xfrm>
            <a:off x="3200400" y="1207008"/>
            <a:ext cx="2724912" cy="237744"/>
          </a:xfrm>
          <a:prstGeom prst="rect">
            <a:avLst/>
          </a:prstGeom>
          <a:noFill/>
          <a:ln/>
        </p:spPr>
        <p:txBody>
          <a:bodyPr wrap="square" lIns="0" tIns="0" rIns="0" bIns="0" rtlCol="0" anchor="ctr"/>
          <a:lstStyle/>
          <a:p>
            <a:pPr algn="ctr" indent="0" marL="0">
              <a:buNone/>
            </a:pPr>
            <a:r>
              <a:rPr lang="en-US" sz="850" b="1" dirty="0">
                <a:solidFill>
                  <a:srgbClr val="0D7A6E"/>
                </a:solidFill>
              </a:rPr>
              <a:t>MY OUTPUT (Enhanced)</a:t>
            </a:r>
            <a:endParaRPr lang="en-US" sz="850" dirty="0"/>
          </a:p>
        </p:txBody>
      </p:sp>
      <p:sp>
        <p:nvSpPr>
          <p:cNvPr id="13" name="Shape 11"/>
          <p:cNvSpPr/>
          <p:nvPr/>
        </p:nvSpPr>
        <p:spPr>
          <a:xfrm>
            <a:off x="6053328" y="1188720"/>
            <a:ext cx="2724912" cy="274320"/>
          </a:xfrm>
          <a:prstGeom prst="rect">
            <a:avLst/>
          </a:prstGeom>
          <a:solidFill>
            <a:srgbClr val="DCFCE7"/>
          </a:solidFill>
          <a:ln w="12700">
            <a:solidFill>
              <a:srgbClr val="D1D5DB"/>
            </a:solidFill>
            <a:prstDash val="solid"/>
          </a:ln>
        </p:spPr>
      </p:sp>
      <p:sp>
        <p:nvSpPr>
          <p:cNvPr id="14" name="Text 12"/>
          <p:cNvSpPr/>
          <p:nvPr/>
        </p:nvSpPr>
        <p:spPr>
          <a:xfrm>
            <a:off x="6053328" y="1207008"/>
            <a:ext cx="2724912" cy="237744"/>
          </a:xfrm>
          <a:prstGeom prst="rect">
            <a:avLst/>
          </a:prstGeom>
          <a:noFill/>
          <a:ln/>
        </p:spPr>
        <p:txBody>
          <a:bodyPr wrap="square" lIns="0" tIns="0" rIns="0" bIns="0" rtlCol="0" anchor="ctr"/>
          <a:lstStyle/>
          <a:p>
            <a:pPr algn="ctr" indent="0" marL="0">
              <a:buNone/>
            </a:pPr>
            <a:r>
              <a:rPr lang="en-US" sz="850" b="1" dirty="0">
                <a:solidFill>
                  <a:srgbClr val="15803D"/>
                </a:solidFill>
              </a:rPr>
              <a:t>GROUND TRUTH</a:t>
            </a:r>
            <a:endParaRPr lang="en-US" sz="850" dirty="0"/>
          </a:p>
        </p:txBody>
      </p:sp>
      <p:sp>
        <p:nvSpPr>
          <p:cNvPr id="15" name="Text 13"/>
          <p:cNvSpPr/>
          <p:nvPr/>
        </p:nvSpPr>
        <p:spPr>
          <a:xfrm>
            <a:off x="347472" y="1508760"/>
            <a:ext cx="5486400" cy="201168"/>
          </a:xfrm>
          <a:prstGeom prst="rect">
            <a:avLst/>
          </a:prstGeom>
          <a:noFill/>
          <a:ln/>
        </p:spPr>
        <p:txBody>
          <a:bodyPr wrap="square" lIns="0" tIns="0" rIns="0" bIns="0" rtlCol="0" anchor="ctr"/>
          <a:lstStyle/>
          <a:p>
            <a:pPr indent="0" marL="0">
              <a:buNone/>
            </a:pPr>
            <a:r>
              <a:rPr lang="en-US" sz="850" i="1" dirty="0">
                <a:solidFill>
                  <a:srgbClr val="6B7280"/>
                </a:solidFill>
              </a:rPr>
              <a:t>Sample 5 — Shallow reef with fan coral &amp; triggerfish</a:t>
            </a:r>
            <a:endParaRPr lang="en-US" sz="850" dirty="0"/>
          </a:p>
        </p:txBody>
      </p:sp>
      <p:pic>
        <p:nvPicPr>
          <p:cNvPr id="16" name="Image 0" descr="preencoded.png"/>
          <p:cNvPicPr>
            <a:picLocks noChangeAspect="1"/>
          </p:cNvPicPr>
          <p:nvPr/>
        </p:nvPicPr>
        <p:blipFill>
          <a:blip r:embed="rId1"/>
          <a:stretch>
            <a:fillRect/>
          </a:stretch>
        </p:blipFill>
        <p:spPr>
          <a:xfrm>
            <a:off x="347472" y="1719072"/>
            <a:ext cx="2724912" cy="1298448"/>
          </a:xfrm>
          <a:prstGeom prst="rect">
            <a:avLst/>
          </a:prstGeom>
        </p:spPr>
      </p:pic>
      <p:pic>
        <p:nvPicPr>
          <p:cNvPr id="17" name="Image 1" descr="preencoded.png"/>
          <p:cNvPicPr>
            <a:picLocks noChangeAspect="1"/>
          </p:cNvPicPr>
          <p:nvPr/>
        </p:nvPicPr>
        <p:blipFill>
          <a:blip r:embed="rId2"/>
          <a:stretch>
            <a:fillRect/>
          </a:stretch>
        </p:blipFill>
        <p:spPr>
          <a:xfrm>
            <a:off x="3200400" y="1719072"/>
            <a:ext cx="2724912" cy="1298448"/>
          </a:xfrm>
          <a:prstGeom prst="rect">
            <a:avLst/>
          </a:prstGeom>
        </p:spPr>
      </p:pic>
      <p:pic>
        <p:nvPicPr>
          <p:cNvPr id="18" name="Image 2" descr="preencoded.png"/>
          <p:cNvPicPr>
            <a:picLocks noChangeAspect="1"/>
          </p:cNvPicPr>
          <p:nvPr/>
        </p:nvPicPr>
        <p:blipFill>
          <a:blip r:embed="rId3"/>
          <a:stretch>
            <a:fillRect/>
          </a:stretch>
        </p:blipFill>
        <p:spPr>
          <a:xfrm>
            <a:off x="6053328" y="1719072"/>
            <a:ext cx="2724912" cy="1298448"/>
          </a:xfrm>
          <a:prstGeom prst="rect">
            <a:avLst/>
          </a:prstGeom>
        </p:spPr>
      </p:pic>
      <p:sp>
        <p:nvSpPr>
          <p:cNvPr id="19" name="Shape 14"/>
          <p:cNvSpPr/>
          <p:nvPr/>
        </p:nvSpPr>
        <p:spPr>
          <a:xfrm>
            <a:off x="347472" y="3127248"/>
            <a:ext cx="8503920" cy="0"/>
          </a:xfrm>
          <a:prstGeom prst="line">
            <a:avLst/>
          </a:prstGeom>
          <a:noFill/>
          <a:ln w="6350">
            <a:solidFill>
              <a:srgbClr val="D1D5DB"/>
            </a:solidFill>
            <a:prstDash val="solid"/>
          </a:ln>
        </p:spPr>
      </p:sp>
      <p:sp>
        <p:nvSpPr>
          <p:cNvPr id="20" name="Text 15"/>
          <p:cNvSpPr/>
          <p:nvPr/>
        </p:nvSpPr>
        <p:spPr>
          <a:xfrm>
            <a:off x="347472" y="3200400"/>
            <a:ext cx="8503920" cy="256032"/>
          </a:xfrm>
          <a:prstGeom prst="rect">
            <a:avLst/>
          </a:prstGeom>
          <a:noFill/>
          <a:ln/>
        </p:spPr>
        <p:txBody>
          <a:bodyPr wrap="square" lIns="0" tIns="0" rIns="0" bIns="0" rtlCol="0" anchor="ctr"/>
          <a:lstStyle/>
          <a:p>
            <a:pPr indent="0" marL="0">
              <a:buNone/>
            </a:pPr>
            <a:r>
              <a:rPr lang="en-US" sz="950" b="1" spc="100" kern="0" dirty="0">
                <a:solidFill>
                  <a:srgbClr val="1A3557"/>
                </a:solidFill>
              </a:rPr>
              <a:t>QUALITATIVE ANALYSIS — What Changed and Why</a:t>
            </a:r>
            <a:endParaRPr lang="en-US" sz="950" dirty="0"/>
          </a:p>
        </p:txBody>
      </p:sp>
      <p:sp>
        <p:nvSpPr>
          <p:cNvPr id="21" name="Shape 16"/>
          <p:cNvSpPr/>
          <p:nvPr/>
        </p:nvSpPr>
        <p:spPr>
          <a:xfrm>
            <a:off x="347472" y="3493008"/>
            <a:ext cx="2724912" cy="1417320"/>
          </a:xfrm>
          <a:prstGeom prst="rect">
            <a:avLst/>
          </a:prstGeom>
          <a:solidFill>
            <a:srgbClr val="E6F4F2"/>
          </a:solidFill>
          <a:ln w="6350">
            <a:solidFill>
              <a:srgbClr val="D1D5DB"/>
            </a:solidFill>
            <a:prstDash val="solid"/>
          </a:ln>
        </p:spPr>
      </p:sp>
      <p:sp>
        <p:nvSpPr>
          <p:cNvPr id="22" name="Text 17"/>
          <p:cNvSpPr/>
          <p:nvPr/>
        </p:nvSpPr>
        <p:spPr>
          <a:xfrm>
            <a:off x="457200" y="3566160"/>
            <a:ext cx="2505456" cy="274320"/>
          </a:xfrm>
          <a:prstGeom prst="rect">
            <a:avLst/>
          </a:prstGeom>
          <a:noFill/>
          <a:ln/>
        </p:spPr>
        <p:txBody>
          <a:bodyPr wrap="square" lIns="0" tIns="0" rIns="0" bIns="0" rtlCol="0" anchor="ctr"/>
          <a:lstStyle/>
          <a:p>
            <a:pPr indent="0" marL="0">
              <a:buNone/>
            </a:pPr>
            <a:r>
              <a:rPr lang="en-US" sz="1100" b="1" dirty="0">
                <a:solidFill>
                  <a:srgbClr val="0D7A6E"/>
                </a:solidFill>
              </a:rPr>
              <a:t>Color Cast Removal</a:t>
            </a:r>
            <a:endParaRPr lang="en-US" sz="1100" dirty="0"/>
          </a:p>
        </p:txBody>
      </p:sp>
      <p:sp>
        <p:nvSpPr>
          <p:cNvPr id="23" name="Text 18"/>
          <p:cNvSpPr/>
          <p:nvPr/>
        </p:nvSpPr>
        <p:spPr>
          <a:xfrm>
            <a:off x="457200" y="3858768"/>
            <a:ext cx="2505456" cy="987552"/>
          </a:xfrm>
          <a:prstGeom prst="rect">
            <a:avLst/>
          </a:prstGeom>
          <a:noFill/>
          <a:ln/>
        </p:spPr>
        <p:txBody>
          <a:bodyPr wrap="square" lIns="0" tIns="0" rIns="0" bIns="0" rtlCol="0" anchor="ctr"/>
          <a:lstStyle/>
          <a:p>
            <a:pPr indent="0" marL="0">
              <a:buNone/>
            </a:pPr>
            <a:r>
              <a:rPr lang="en-US" sz="900" dirty="0">
                <a:solidFill>
                  <a:srgbClr val="374151"/>
                </a:solidFill>
              </a:rPr>
              <a:t>The dominant green-blue haze is replaced by the natural warm-amber tones of the original scene. This is driven by the Adaptive White Balance prior and amplified by the SE block's ability to identify and up-weight the red-channel features.</a:t>
            </a:r>
            <a:endParaRPr lang="en-US" sz="900" dirty="0"/>
          </a:p>
        </p:txBody>
      </p:sp>
      <p:sp>
        <p:nvSpPr>
          <p:cNvPr id="24" name="Shape 19"/>
          <p:cNvSpPr/>
          <p:nvPr/>
        </p:nvSpPr>
        <p:spPr>
          <a:xfrm>
            <a:off x="3200400" y="3493008"/>
            <a:ext cx="2724912" cy="1417320"/>
          </a:xfrm>
          <a:prstGeom prst="rect">
            <a:avLst/>
          </a:prstGeom>
          <a:solidFill>
            <a:srgbClr val="E3F4FB"/>
          </a:solidFill>
          <a:ln w="6350">
            <a:solidFill>
              <a:srgbClr val="D1D5DB"/>
            </a:solidFill>
            <a:prstDash val="solid"/>
          </a:ln>
        </p:spPr>
      </p:sp>
      <p:sp>
        <p:nvSpPr>
          <p:cNvPr id="25" name="Text 20"/>
          <p:cNvSpPr/>
          <p:nvPr/>
        </p:nvSpPr>
        <p:spPr>
          <a:xfrm>
            <a:off x="3310128" y="3566160"/>
            <a:ext cx="2505456" cy="274320"/>
          </a:xfrm>
          <a:prstGeom prst="rect">
            <a:avLst/>
          </a:prstGeom>
          <a:noFill/>
          <a:ln/>
        </p:spPr>
        <p:txBody>
          <a:bodyPr wrap="square" lIns="0" tIns="0" rIns="0" bIns="0" rtlCol="0" anchor="ctr"/>
          <a:lstStyle/>
          <a:p>
            <a:pPr indent="0" marL="0">
              <a:buNone/>
            </a:pPr>
            <a:r>
              <a:rPr lang="en-US" sz="1100" b="1" dirty="0">
                <a:solidFill>
                  <a:srgbClr val="2196C9"/>
                </a:solidFill>
              </a:rPr>
              <a:t>Edge &amp; Texture Recovery</a:t>
            </a:r>
            <a:endParaRPr lang="en-US" sz="1100" dirty="0"/>
          </a:p>
        </p:txBody>
      </p:sp>
      <p:sp>
        <p:nvSpPr>
          <p:cNvPr id="26" name="Text 21"/>
          <p:cNvSpPr/>
          <p:nvPr/>
        </p:nvSpPr>
        <p:spPr>
          <a:xfrm>
            <a:off x="3310128" y="3858768"/>
            <a:ext cx="2505456" cy="987552"/>
          </a:xfrm>
          <a:prstGeom prst="rect">
            <a:avLst/>
          </a:prstGeom>
          <a:noFill/>
          <a:ln/>
        </p:spPr>
        <p:txBody>
          <a:bodyPr wrap="square" lIns="0" tIns="0" rIns="0" bIns="0" rtlCol="0" anchor="ctr"/>
          <a:lstStyle/>
          <a:p>
            <a:pPr indent="0" marL="0">
              <a:buNone/>
            </a:pPr>
            <a:r>
              <a:rPr lang="en-US" sz="900" dirty="0">
                <a:solidFill>
                  <a:srgbClr val="374151"/>
                </a:solidFill>
              </a:rPr>
              <a:t>Coral branch tips, fish outlines, and fine surface textures become clearly defined. The SGFB Sobel gating explicitly re-injects gradient energy into boundaries. The wider (48-channel) network retains more of this detail without compression loss.</a:t>
            </a:r>
            <a:endParaRPr lang="en-US" sz="900" dirty="0"/>
          </a:p>
        </p:txBody>
      </p:sp>
      <p:sp>
        <p:nvSpPr>
          <p:cNvPr id="27" name="Shape 22"/>
          <p:cNvSpPr/>
          <p:nvPr/>
        </p:nvSpPr>
        <p:spPr>
          <a:xfrm>
            <a:off x="6053328" y="3493008"/>
            <a:ext cx="2724912" cy="1417320"/>
          </a:xfrm>
          <a:prstGeom prst="rect">
            <a:avLst/>
          </a:prstGeom>
          <a:solidFill>
            <a:srgbClr val="DCFCE7"/>
          </a:solidFill>
          <a:ln w="6350">
            <a:solidFill>
              <a:srgbClr val="D1D5DB"/>
            </a:solidFill>
            <a:prstDash val="solid"/>
          </a:ln>
        </p:spPr>
      </p:sp>
      <p:sp>
        <p:nvSpPr>
          <p:cNvPr id="28" name="Text 23"/>
          <p:cNvSpPr/>
          <p:nvPr/>
        </p:nvSpPr>
        <p:spPr>
          <a:xfrm>
            <a:off x="6163056" y="3566160"/>
            <a:ext cx="2505456" cy="274320"/>
          </a:xfrm>
          <a:prstGeom prst="rect">
            <a:avLst/>
          </a:prstGeom>
          <a:noFill/>
          <a:ln/>
        </p:spPr>
        <p:txBody>
          <a:bodyPr wrap="square" lIns="0" tIns="0" rIns="0" bIns="0" rtlCol="0" anchor="ctr"/>
          <a:lstStyle/>
          <a:p>
            <a:pPr indent="0" marL="0">
              <a:buNone/>
            </a:pPr>
            <a:r>
              <a:rPr lang="en-US" sz="1100" b="1" dirty="0">
                <a:solidFill>
                  <a:srgbClr val="15803D"/>
                </a:solidFill>
              </a:rPr>
              <a:t>Structural Consistency</a:t>
            </a:r>
            <a:endParaRPr lang="en-US" sz="1100" dirty="0"/>
          </a:p>
        </p:txBody>
      </p:sp>
      <p:sp>
        <p:nvSpPr>
          <p:cNvPr id="29" name="Text 24"/>
          <p:cNvSpPr/>
          <p:nvPr/>
        </p:nvSpPr>
        <p:spPr>
          <a:xfrm>
            <a:off x="6163056" y="3858768"/>
            <a:ext cx="2505456" cy="987552"/>
          </a:xfrm>
          <a:prstGeom prst="rect">
            <a:avLst/>
          </a:prstGeom>
          <a:noFill/>
          <a:ln/>
        </p:spPr>
        <p:txBody>
          <a:bodyPr wrap="square" lIns="0" tIns="0" rIns="0" bIns="0" rtlCol="0" anchor="ctr"/>
          <a:lstStyle/>
          <a:p>
            <a:pPr indent="0" marL="0">
              <a:buNone/>
            </a:pPr>
            <a:r>
              <a:rPr lang="en-US" sz="900" dirty="0">
                <a:solidFill>
                  <a:srgbClr val="374151"/>
                </a:solidFill>
              </a:rPr>
              <a:t>The model doesn't just fix individual pixels — it preserves the spatial layout. Depth ordering, object shapes, and scene geometry are maintained. This is what the +0.037 SSIM gain quantifies: the model reproduces structure, not just brightness.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3557"/>
          </a:solidFill>
          <a:ln w="12700">
            <a:solidFill>
              <a:srgbClr val="1A3557"/>
            </a:solidFill>
            <a:prstDash val="solid"/>
          </a:ln>
        </p:spPr>
      </p:sp>
      <p:sp>
        <p:nvSpPr>
          <p:cNvPr id="3" name="Text 1"/>
          <p:cNvSpPr/>
          <p:nvPr/>
        </p:nvSpPr>
        <p:spPr>
          <a:xfrm>
            <a:off x="347472" y="256032"/>
            <a:ext cx="8595360" cy="256032"/>
          </a:xfrm>
          <a:prstGeom prst="rect">
            <a:avLst/>
          </a:prstGeom>
          <a:noFill/>
          <a:ln/>
        </p:spPr>
        <p:txBody>
          <a:bodyPr wrap="square" lIns="0" tIns="0" rIns="0" bIns="0" rtlCol="0" anchor="ctr"/>
          <a:lstStyle/>
          <a:p>
            <a:pPr indent="0" marL="0">
              <a:buNone/>
            </a:pPr>
            <a:r>
              <a:rPr lang="en-US" sz="850" b="1" spc="350" kern="0" dirty="0">
                <a:solidFill>
                  <a:srgbClr val="0D7A6E"/>
                </a:solidFill>
              </a:rPr>
              <a:t>CONCLUSIONS &amp; FUTURE DIRECTIONS</a:t>
            </a:r>
            <a:endParaRPr lang="en-US" sz="850" dirty="0"/>
          </a:p>
        </p:txBody>
      </p:sp>
      <p:sp>
        <p:nvSpPr>
          <p:cNvPr id="4" name="Text 2"/>
          <p:cNvSpPr/>
          <p:nvPr/>
        </p:nvSpPr>
        <p:spPr>
          <a:xfrm>
            <a:off x="347472" y="502920"/>
            <a:ext cx="8595360" cy="566928"/>
          </a:xfrm>
          <a:prstGeom prst="rect">
            <a:avLst/>
          </a:prstGeom>
          <a:noFill/>
          <a:ln/>
        </p:spPr>
        <p:txBody>
          <a:bodyPr wrap="square" lIns="0" tIns="0" rIns="0" bIns="0" rtlCol="0" anchor="ctr"/>
          <a:lstStyle/>
          <a:p>
            <a:pPr indent="0" marL="0">
              <a:buNone/>
            </a:pPr>
            <a:r>
              <a:rPr lang="en-US" sz="2600" b="1" dirty="0">
                <a:solidFill>
                  <a:srgbClr val="1A3557"/>
                </a:solidFill>
              </a:rPr>
              <a:t>What I Achieved, What I Learned, and Where This Goes Next</a:t>
            </a:r>
            <a:endParaRPr lang="en-US" sz="2600" dirty="0"/>
          </a:p>
        </p:txBody>
      </p:sp>
      <p:sp>
        <p:nvSpPr>
          <p:cNvPr id="5" name="Shape 3"/>
          <p:cNvSpPr/>
          <p:nvPr/>
        </p:nvSpPr>
        <p:spPr>
          <a:xfrm>
            <a:off x="347472" y="1097280"/>
            <a:ext cx="8503920" cy="0"/>
          </a:xfrm>
          <a:prstGeom prst="line">
            <a:avLst/>
          </a:prstGeom>
          <a:noFill/>
          <a:ln w="9525">
            <a:solidFill>
              <a:srgbClr val="D1D5DB"/>
            </a:solidFill>
            <a:prstDash val="solid"/>
          </a:ln>
        </p:spPr>
      </p:sp>
      <p:sp>
        <p:nvSpPr>
          <p:cNvPr id="6" name="Shape 4"/>
          <p:cNvSpPr/>
          <p:nvPr/>
        </p:nvSpPr>
        <p:spPr>
          <a:xfrm>
            <a:off x="0" y="5010912"/>
            <a:ext cx="9144000" cy="132588"/>
          </a:xfrm>
          <a:prstGeom prst="rect">
            <a:avLst/>
          </a:prstGeom>
          <a:solidFill>
            <a:srgbClr val="1A3557"/>
          </a:solidFill>
          <a:ln w="12700">
            <a:solidFill>
              <a:srgbClr val="1A3557"/>
            </a:solidFill>
            <a:prstDash val="solid"/>
          </a:ln>
        </p:spPr>
      </p:sp>
      <p:sp>
        <p:nvSpPr>
          <p:cNvPr id="7" name="Text 5"/>
          <p:cNvSpPr/>
          <p:nvPr/>
        </p:nvSpPr>
        <p:spPr>
          <a:xfrm>
            <a:off x="347472" y="5018227"/>
            <a:ext cx="7772400" cy="109728"/>
          </a:xfrm>
          <a:prstGeom prst="rect">
            <a:avLst/>
          </a:prstGeom>
          <a:noFill/>
          <a:ln/>
        </p:spPr>
        <p:txBody>
          <a:bodyPr wrap="square" lIns="0" tIns="0" rIns="0" bIns="0" rtlCol="0" anchor="ctr"/>
          <a:lstStyle/>
          <a:p>
            <a:pPr indent="0" marL="0">
              <a:buNone/>
            </a:pPr>
            <a:r>
              <a:rPr lang="en-US" sz="750" dirty="0">
                <a:solidFill>
                  <a:srgbClr val="ADBDD0"/>
                </a:solidFill>
              </a:rPr>
              <a:t>B.Dhanush  |  23bce9640  |  WWE-UIE Enhanced v2  |  UFO-120 Dataset</a:t>
            </a:r>
            <a:endParaRPr lang="en-US" sz="750" dirty="0"/>
          </a:p>
        </p:txBody>
      </p:sp>
      <p:sp>
        <p:nvSpPr>
          <p:cNvPr id="8" name="Text 6"/>
          <p:cNvSpPr/>
          <p:nvPr/>
        </p:nvSpPr>
        <p:spPr>
          <a:xfrm>
            <a:off x="8138160" y="5018227"/>
            <a:ext cx="822960" cy="109728"/>
          </a:xfrm>
          <a:prstGeom prst="rect">
            <a:avLst/>
          </a:prstGeom>
          <a:noFill/>
          <a:ln/>
        </p:spPr>
        <p:txBody>
          <a:bodyPr wrap="square" lIns="0" tIns="0" rIns="0" bIns="0" rtlCol="0" anchor="ctr"/>
          <a:lstStyle/>
          <a:p>
            <a:pPr algn="r" indent="0" marL="0">
              <a:buNone/>
            </a:pPr>
            <a:r>
              <a:rPr lang="en-US" sz="750" dirty="0">
                <a:solidFill>
                  <a:srgbClr val="ADBDD0"/>
                </a:solidFill>
              </a:rPr>
              <a:t>10 / 10</a:t>
            </a:r>
            <a:endParaRPr lang="en-US" sz="750" dirty="0"/>
          </a:p>
        </p:txBody>
      </p:sp>
      <p:sp>
        <p:nvSpPr>
          <p:cNvPr id="9" name="Text 7"/>
          <p:cNvSpPr/>
          <p:nvPr/>
        </p:nvSpPr>
        <p:spPr>
          <a:xfrm>
            <a:off x="347472" y="1170432"/>
            <a:ext cx="8503920" cy="457200"/>
          </a:xfrm>
          <a:prstGeom prst="rect">
            <a:avLst/>
          </a:prstGeom>
          <a:noFill/>
          <a:ln/>
        </p:spPr>
        <p:txBody>
          <a:bodyPr wrap="square" lIns="0" tIns="0" rIns="0" bIns="0" rtlCol="0" anchor="ctr"/>
          <a:lstStyle/>
          <a:p>
            <a:pPr indent="0" marL="0">
              <a:buNone/>
            </a:pPr>
            <a:r>
              <a:rPr lang="en-US" sz="1100" i="1" dirty="0">
                <a:solidFill>
                  <a:srgbClr val="374151"/>
                </a:solidFill>
              </a:rPr>
              <a:t>This project taught me that improving a deep learning system is less about finding magic hyperparameters and more about understanding the physics, the data, and the failure modes — then designing changes that address each one deliberately.</a:t>
            </a:r>
            <a:endParaRPr lang="en-US" sz="1100" dirty="0"/>
          </a:p>
        </p:txBody>
      </p:sp>
      <p:sp>
        <p:nvSpPr>
          <p:cNvPr id="10" name="Shape 8"/>
          <p:cNvSpPr/>
          <p:nvPr/>
        </p:nvSpPr>
        <p:spPr>
          <a:xfrm>
            <a:off x="347472" y="1719072"/>
            <a:ext cx="4133088" cy="685800"/>
          </a:xfrm>
          <a:prstGeom prst="rect">
            <a:avLst/>
          </a:prstGeom>
          <a:solidFill>
            <a:srgbClr val="DCFCE7"/>
          </a:solidFill>
          <a:ln w="6350">
            <a:solidFill>
              <a:srgbClr val="D1D5DB"/>
            </a:solidFill>
            <a:prstDash val="solid"/>
          </a:ln>
        </p:spPr>
      </p:sp>
      <p:sp>
        <p:nvSpPr>
          <p:cNvPr id="11" name="Text 9"/>
          <p:cNvSpPr/>
          <p:nvPr/>
        </p:nvSpPr>
        <p:spPr>
          <a:xfrm>
            <a:off x="484632" y="1773936"/>
            <a:ext cx="3886200" cy="274320"/>
          </a:xfrm>
          <a:prstGeom prst="rect">
            <a:avLst/>
          </a:prstGeom>
          <a:noFill/>
          <a:ln/>
        </p:spPr>
        <p:txBody>
          <a:bodyPr wrap="square" lIns="0" tIns="0" rIns="0" bIns="0" rtlCol="0" anchor="ctr"/>
          <a:lstStyle/>
          <a:p>
            <a:pPr indent="0" marL="0">
              <a:buNone/>
            </a:pPr>
            <a:r>
              <a:rPr lang="en-US" sz="1300" b="1" dirty="0">
                <a:solidFill>
                  <a:srgbClr val="15803D"/>
                </a:solidFill>
              </a:rPr>
              <a:t>✓  SSIM: 0.9033</a:t>
            </a:r>
            <a:endParaRPr lang="en-US" sz="1300" dirty="0"/>
          </a:p>
        </p:txBody>
      </p:sp>
      <p:sp>
        <p:nvSpPr>
          <p:cNvPr id="12" name="Text 10"/>
          <p:cNvSpPr/>
          <p:nvPr/>
        </p:nvSpPr>
        <p:spPr>
          <a:xfrm>
            <a:off x="484632" y="2066544"/>
            <a:ext cx="3886200" cy="274320"/>
          </a:xfrm>
          <a:prstGeom prst="rect">
            <a:avLst/>
          </a:prstGeom>
          <a:noFill/>
          <a:ln/>
        </p:spPr>
        <p:txBody>
          <a:bodyPr wrap="square" lIns="0" tIns="0" rIns="0" bIns="0" rtlCol="0" anchor="ctr"/>
          <a:lstStyle/>
          <a:p>
            <a:pPr indent="0" marL="0">
              <a:buNone/>
            </a:pPr>
            <a:r>
              <a:rPr lang="en-US" sz="950" dirty="0">
                <a:solidFill>
                  <a:srgbClr val="374151"/>
                </a:solidFill>
              </a:rPr>
              <a:t>+0.037 vs baseline — genuine structural improvement via SE Attention</a:t>
            </a:r>
            <a:endParaRPr lang="en-US" sz="950" dirty="0"/>
          </a:p>
        </p:txBody>
      </p:sp>
      <p:sp>
        <p:nvSpPr>
          <p:cNvPr id="13" name="Shape 11"/>
          <p:cNvSpPr/>
          <p:nvPr/>
        </p:nvSpPr>
        <p:spPr>
          <a:xfrm>
            <a:off x="4663440" y="1719072"/>
            <a:ext cx="4133088" cy="685800"/>
          </a:xfrm>
          <a:prstGeom prst="rect">
            <a:avLst/>
          </a:prstGeom>
          <a:solidFill>
            <a:srgbClr val="E6F4F2"/>
          </a:solidFill>
          <a:ln w="6350">
            <a:solidFill>
              <a:srgbClr val="D1D5DB"/>
            </a:solidFill>
            <a:prstDash val="solid"/>
          </a:ln>
        </p:spPr>
      </p:sp>
      <p:sp>
        <p:nvSpPr>
          <p:cNvPr id="14" name="Text 12"/>
          <p:cNvSpPr/>
          <p:nvPr/>
        </p:nvSpPr>
        <p:spPr>
          <a:xfrm>
            <a:off x="4800600" y="1773936"/>
            <a:ext cx="3886200" cy="274320"/>
          </a:xfrm>
          <a:prstGeom prst="rect">
            <a:avLst/>
          </a:prstGeom>
          <a:noFill/>
          <a:ln/>
        </p:spPr>
        <p:txBody>
          <a:bodyPr wrap="square" lIns="0" tIns="0" rIns="0" bIns="0" rtlCol="0" anchor="ctr"/>
          <a:lstStyle/>
          <a:p>
            <a:pPr indent="0" marL="0">
              <a:buNone/>
            </a:pPr>
            <a:r>
              <a:rPr lang="en-US" sz="1300" b="1" dirty="0">
                <a:solidFill>
                  <a:srgbClr val="0D7A6E"/>
                </a:solidFill>
              </a:rPr>
              <a:t>✓  PSNR: 27.31 dB</a:t>
            </a:r>
            <a:endParaRPr lang="en-US" sz="1300" dirty="0"/>
          </a:p>
        </p:txBody>
      </p:sp>
      <p:sp>
        <p:nvSpPr>
          <p:cNvPr id="15" name="Text 13"/>
          <p:cNvSpPr/>
          <p:nvPr/>
        </p:nvSpPr>
        <p:spPr>
          <a:xfrm>
            <a:off x="4800600" y="2066544"/>
            <a:ext cx="3886200" cy="274320"/>
          </a:xfrm>
          <a:prstGeom prst="rect">
            <a:avLst/>
          </a:prstGeom>
          <a:noFill/>
          <a:ln/>
        </p:spPr>
        <p:txBody>
          <a:bodyPr wrap="square" lIns="0" tIns="0" rIns="0" bIns="0" rtlCol="0" anchor="ctr"/>
          <a:lstStyle/>
          <a:p>
            <a:pPr indent="0" marL="0">
              <a:buNone/>
            </a:pPr>
            <a:r>
              <a:rPr lang="en-US" sz="950" dirty="0">
                <a:solidFill>
                  <a:srgbClr val="374151"/>
                </a:solidFill>
              </a:rPr>
              <a:t>Native score — no artificial score inflation; fully reproducible result</a:t>
            </a:r>
            <a:endParaRPr lang="en-US" sz="950" dirty="0"/>
          </a:p>
        </p:txBody>
      </p:sp>
      <p:sp>
        <p:nvSpPr>
          <p:cNvPr id="16" name="Shape 14"/>
          <p:cNvSpPr/>
          <p:nvPr/>
        </p:nvSpPr>
        <p:spPr>
          <a:xfrm>
            <a:off x="347472" y="2523744"/>
            <a:ext cx="4133088" cy="685800"/>
          </a:xfrm>
          <a:prstGeom prst="rect">
            <a:avLst/>
          </a:prstGeom>
          <a:solidFill>
            <a:srgbClr val="E3F4FB"/>
          </a:solidFill>
          <a:ln w="6350">
            <a:solidFill>
              <a:srgbClr val="D1D5DB"/>
            </a:solidFill>
            <a:prstDash val="solid"/>
          </a:ln>
        </p:spPr>
      </p:sp>
      <p:sp>
        <p:nvSpPr>
          <p:cNvPr id="17" name="Text 15"/>
          <p:cNvSpPr/>
          <p:nvPr/>
        </p:nvSpPr>
        <p:spPr>
          <a:xfrm>
            <a:off x="484632" y="2578608"/>
            <a:ext cx="3886200" cy="274320"/>
          </a:xfrm>
          <a:prstGeom prst="rect">
            <a:avLst/>
          </a:prstGeom>
          <a:noFill/>
          <a:ln/>
        </p:spPr>
        <p:txBody>
          <a:bodyPr wrap="square" lIns="0" tIns="0" rIns="0" bIns="0" rtlCol="0" anchor="ctr"/>
          <a:lstStyle/>
          <a:p>
            <a:pPr indent="0" marL="0">
              <a:buNone/>
            </a:pPr>
            <a:r>
              <a:rPr lang="en-US" sz="1300" b="1" dirty="0">
                <a:solidFill>
                  <a:srgbClr val="2196C9"/>
                </a:solidFill>
              </a:rPr>
              <a:t>✓  3 Principled Upgrades</a:t>
            </a:r>
            <a:endParaRPr lang="en-US" sz="1300" dirty="0"/>
          </a:p>
        </p:txBody>
      </p:sp>
      <p:sp>
        <p:nvSpPr>
          <p:cNvPr id="18" name="Text 16"/>
          <p:cNvSpPr/>
          <p:nvPr/>
        </p:nvSpPr>
        <p:spPr>
          <a:xfrm>
            <a:off x="484632" y="2871216"/>
            <a:ext cx="3886200" cy="274320"/>
          </a:xfrm>
          <a:prstGeom prst="rect">
            <a:avLst/>
          </a:prstGeom>
          <a:noFill/>
          <a:ln/>
        </p:spPr>
        <p:txBody>
          <a:bodyPr wrap="square" lIns="0" tIns="0" rIns="0" bIns="0" rtlCol="0" anchor="ctr"/>
          <a:lstStyle/>
          <a:p>
            <a:pPr indent="0" marL="0">
              <a:buNone/>
            </a:pPr>
            <a:r>
              <a:rPr lang="en-US" sz="950" dirty="0">
                <a:solidFill>
                  <a:srgbClr val="374151"/>
                </a:solidFill>
              </a:rPr>
              <a:t>Deeper U-Net · 48 channels · SE Attention — each targeting a specific weakness</a:t>
            </a:r>
            <a:endParaRPr lang="en-US" sz="950" dirty="0"/>
          </a:p>
        </p:txBody>
      </p:sp>
      <p:sp>
        <p:nvSpPr>
          <p:cNvPr id="19" name="Shape 17"/>
          <p:cNvSpPr/>
          <p:nvPr/>
        </p:nvSpPr>
        <p:spPr>
          <a:xfrm>
            <a:off x="4663440" y="2523744"/>
            <a:ext cx="4133088" cy="685800"/>
          </a:xfrm>
          <a:prstGeom prst="rect">
            <a:avLst/>
          </a:prstGeom>
          <a:solidFill>
            <a:srgbClr val="FEF3C7"/>
          </a:solidFill>
          <a:ln w="6350">
            <a:solidFill>
              <a:srgbClr val="D1D5DB"/>
            </a:solidFill>
            <a:prstDash val="solid"/>
          </a:ln>
        </p:spPr>
      </p:sp>
      <p:sp>
        <p:nvSpPr>
          <p:cNvPr id="20" name="Text 18"/>
          <p:cNvSpPr/>
          <p:nvPr/>
        </p:nvSpPr>
        <p:spPr>
          <a:xfrm>
            <a:off x="4800600" y="2578608"/>
            <a:ext cx="3886200" cy="274320"/>
          </a:xfrm>
          <a:prstGeom prst="rect">
            <a:avLst/>
          </a:prstGeom>
          <a:noFill/>
          <a:ln/>
        </p:spPr>
        <p:txBody>
          <a:bodyPr wrap="square" lIns="0" tIns="0" rIns="0" bIns="0" rtlCol="0" anchor="ctr"/>
          <a:lstStyle/>
          <a:p>
            <a:pPr indent="0" marL="0">
              <a:buNone/>
            </a:pPr>
            <a:r>
              <a:rPr lang="en-US" sz="1300" b="1" dirty="0">
                <a:solidFill>
                  <a:srgbClr val="D97706"/>
                </a:solidFill>
              </a:rPr>
              <a:t>✓  Scientific Integrity</a:t>
            </a:r>
            <a:endParaRPr lang="en-US" sz="1300" dirty="0"/>
          </a:p>
        </p:txBody>
      </p:sp>
      <p:sp>
        <p:nvSpPr>
          <p:cNvPr id="21" name="Text 19"/>
          <p:cNvSpPr/>
          <p:nvPr/>
        </p:nvSpPr>
        <p:spPr>
          <a:xfrm>
            <a:off x="4800600" y="2871216"/>
            <a:ext cx="3886200" cy="274320"/>
          </a:xfrm>
          <a:prstGeom prst="rect">
            <a:avLst/>
          </a:prstGeom>
          <a:noFill/>
          <a:ln/>
        </p:spPr>
        <p:txBody>
          <a:bodyPr wrap="square" lIns="0" tIns="0" rIns="0" bIns="0" rtlCol="0" anchor="ctr"/>
          <a:lstStyle/>
          <a:p>
            <a:pPr indent="0" marL="0">
              <a:buNone/>
            </a:pPr>
            <a:r>
              <a:rPr lang="en-US" sz="950" dirty="0">
                <a:solidFill>
                  <a:srgbClr val="374151"/>
                </a:solidFill>
              </a:rPr>
              <a:t>Identified and removed hidden multipliers — results can be independently verified</a:t>
            </a:r>
            <a:endParaRPr lang="en-US" sz="950" dirty="0"/>
          </a:p>
        </p:txBody>
      </p:sp>
      <p:sp>
        <p:nvSpPr>
          <p:cNvPr id="22" name="Shape 20"/>
          <p:cNvSpPr/>
          <p:nvPr/>
        </p:nvSpPr>
        <p:spPr>
          <a:xfrm>
            <a:off x="347472" y="3401568"/>
            <a:ext cx="8503920" cy="0"/>
          </a:xfrm>
          <a:prstGeom prst="line">
            <a:avLst/>
          </a:prstGeom>
          <a:noFill/>
          <a:ln w="9525">
            <a:solidFill>
              <a:srgbClr val="D1D5DB"/>
            </a:solidFill>
            <a:prstDash val="solid"/>
          </a:ln>
        </p:spPr>
      </p:sp>
      <p:sp>
        <p:nvSpPr>
          <p:cNvPr id="23" name="Text 21"/>
          <p:cNvSpPr/>
          <p:nvPr/>
        </p:nvSpPr>
        <p:spPr>
          <a:xfrm>
            <a:off x="347472" y="3493008"/>
            <a:ext cx="8503920" cy="256032"/>
          </a:xfrm>
          <a:prstGeom prst="rect">
            <a:avLst/>
          </a:prstGeom>
          <a:noFill/>
          <a:ln/>
        </p:spPr>
        <p:txBody>
          <a:bodyPr wrap="square" lIns="0" tIns="0" rIns="0" bIns="0" rtlCol="0" anchor="ctr"/>
          <a:lstStyle/>
          <a:p>
            <a:pPr indent="0" marL="0">
              <a:buNone/>
            </a:pPr>
            <a:r>
              <a:rPr lang="en-US" sz="950" b="1" spc="150" kern="0" dirty="0">
                <a:solidFill>
                  <a:srgbClr val="1A3557"/>
                </a:solidFill>
              </a:rPr>
              <a:t>FUTURE DIRECTIONS</a:t>
            </a:r>
            <a:endParaRPr lang="en-US" sz="950" dirty="0"/>
          </a:p>
        </p:txBody>
      </p:sp>
      <p:sp>
        <p:nvSpPr>
          <p:cNvPr id="24" name="Shape 22"/>
          <p:cNvSpPr/>
          <p:nvPr/>
        </p:nvSpPr>
        <p:spPr>
          <a:xfrm>
            <a:off x="347472" y="3794760"/>
            <a:ext cx="256032" cy="256032"/>
          </a:xfrm>
          <a:prstGeom prst="rect">
            <a:avLst/>
          </a:prstGeom>
          <a:solidFill>
            <a:srgbClr val="1A3557"/>
          </a:solidFill>
          <a:ln w="12700">
            <a:solidFill>
              <a:srgbClr val="1A3557"/>
            </a:solidFill>
            <a:prstDash val="solid"/>
          </a:ln>
        </p:spPr>
      </p:sp>
      <p:sp>
        <p:nvSpPr>
          <p:cNvPr id="25" name="Text 23"/>
          <p:cNvSpPr/>
          <p:nvPr/>
        </p:nvSpPr>
        <p:spPr>
          <a:xfrm>
            <a:off x="347472" y="37947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26" name="Text 24"/>
          <p:cNvSpPr/>
          <p:nvPr/>
        </p:nvSpPr>
        <p:spPr>
          <a:xfrm>
            <a:off x="713232" y="3803904"/>
            <a:ext cx="8138160" cy="274320"/>
          </a:xfrm>
          <a:prstGeom prst="rect">
            <a:avLst/>
          </a:prstGeom>
          <a:noFill/>
          <a:ln/>
        </p:spPr>
        <p:txBody>
          <a:bodyPr wrap="none" lIns="0" tIns="0" rIns="0" bIns="0" rtlCol="0" anchor="ctr"/>
          <a:lstStyle/>
          <a:p>
            <a:pPr indent="0" marL="0">
              <a:buNone/>
            </a:pPr>
            <a:r>
              <a:rPr lang="en-US" sz="950" dirty="0">
                <a:solidFill>
                  <a:srgbClr val="374151"/>
                </a:solidFill>
              </a:rPr>
              <a:t>Channel-wise Wavelet Gating  —  Apply SE-style attention inside each WEB subband branch so the model learns which frequency band matters most per scene.</a:t>
            </a:r>
            <a:endParaRPr lang="en-US" sz="950" dirty="0"/>
          </a:p>
        </p:txBody>
      </p:sp>
      <p:sp>
        <p:nvSpPr>
          <p:cNvPr id="27" name="Shape 25"/>
          <p:cNvSpPr/>
          <p:nvPr/>
        </p:nvSpPr>
        <p:spPr>
          <a:xfrm>
            <a:off x="347472" y="4142232"/>
            <a:ext cx="256032" cy="256032"/>
          </a:xfrm>
          <a:prstGeom prst="rect">
            <a:avLst/>
          </a:prstGeom>
          <a:solidFill>
            <a:srgbClr val="1A3557"/>
          </a:solidFill>
          <a:ln w="12700">
            <a:solidFill>
              <a:srgbClr val="1A3557"/>
            </a:solidFill>
            <a:prstDash val="solid"/>
          </a:ln>
        </p:spPr>
      </p:sp>
      <p:sp>
        <p:nvSpPr>
          <p:cNvPr id="28" name="Text 26"/>
          <p:cNvSpPr/>
          <p:nvPr/>
        </p:nvSpPr>
        <p:spPr>
          <a:xfrm>
            <a:off x="347472" y="41422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29" name="Text 27"/>
          <p:cNvSpPr/>
          <p:nvPr/>
        </p:nvSpPr>
        <p:spPr>
          <a:xfrm>
            <a:off x="713232" y="4151376"/>
            <a:ext cx="8138160" cy="274320"/>
          </a:xfrm>
          <a:prstGeom prst="rect">
            <a:avLst/>
          </a:prstGeom>
          <a:noFill/>
          <a:ln/>
        </p:spPr>
        <p:txBody>
          <a:bodyPr wrap="none" lIns="0" tIns="0" rIns="0" bIns="0" rtlCol="0" anchor="ctr"/>
          <a:lstStyle/>
          <a:p>
            <a:pPr indent="0" marL="0">
              <a:buNone/>
            </a:pPr>
            <a:r>
              <a:rPr lang="en-US" sz="950" dirty="0">
                <a:solidFill>
                  <a:srgbClr val="374151"/>
                </a:solidFill>
              </a:rPr>
              <a:t>CBAM or Transformer Attention  —  Augment the SE block with spatial attention (CBAM) to recover even finer structural detail beyond channel recalibration.</a:t>
            </a:r>
            <a:endParaRPr lang="en-US" sz="950" dirty="0"/>
          </a:p>
        </p:txBody>
      </p:sp>
      <p:sp>
        <p:nvSpPr>
          <p:cNvPr id="30" name="Shape 28"/>
          <p:cNvSpPr/>
          <p:nvPr/>
        </p:nvSpPr>
        <p:spPr>
          <a:xfrm>
            <a:off x="347472" y="4489704"/>
            <a:ext cx="256032" cy="256032"/>
          </a:xfrm>
          <a:prstGeom prst="rect">
            <a:avLst/>
          </a:prstGeom>
          <a:solidFill>
            <a:srgbClr val="1A3557"/>
          </a:solidFill>
          <a:ln w="12700">
            <a:solidFill>
              <a:srgbClr val="1A3557"/>
            </a:solidFill>
            <a:prstDash val="solid"/>
          </a:ln>
        </p:spPr>
      </p:sp>
      <p:sp>
        <p:nvSpPr>
          <p:cNvPr id="31" name="Text 29"/>
          <p:cNvSpPr/>
          <p:nvPr/>
        </p:nvSpPr>
        <p:spPr>
          <a:xfrm>
            <a:off x="347472" y="448970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32" name="Text 30"/>
          <p:cNvSpPr/>
          <p:nvPr/>
        </p:nvSpPr>
        <p:spPr>
          <a:xfrm>
            <a:off x="713232" y="4498848"/>
            <a:ext cx="8138160" cy="274320"/>
          </a:xfrm>
          <a:prstGeom prst="rect">
            <a:avLst/>
          </a:prstGeom>
          <a:noFill/>
          <a:ln/>
        </p:spPr>
        <p:txBody>
          <a:bodyPr wrap="none" lIns="0" tIns="0" rIns="0" bIns="0" rtlCol="0" anchor="ctr"/>
          <a:lstStyle/>
          <a:p>
            <a:pPr indent="0" marL="0">
              <a:buNone/>
            </a:pPr>
            <a:r>
              <a:rPr lang="en-US" sz="950" dirty="0">
                <a:solidFill>
                  <a:srgbClr val="374151"/>
                </a:solidFill>
              </a:rPr>
              <a:t>Multi-dataset Generalisation  —  Train jointly on UIEB + UFO-120 + EUVP to verify the architectural gains hold across diverse water types and cameras.</a:t>
            </a:r>
            <a:endParaRPr lang="en-US" sz="950" dirty="0"/>
          </a:p>
        </p:txBody>
      </p:sp>
      <p:sp>
        <p:nvSpPr>
          <p:cNvPr id="33" name="Shape 31"/>
          <p:cNvSpPr/>
          <p:nvPr/>
        </p:nvSpPr>
        <p:spPr>
          <a:xfrm>
            <a:off x="347472" y="4828032"/>
            <a:ext cx="8503920" cy="146304"/>
          </a:xfrm>
          <a:prstGeom prst="rect">
            <a:avLst/>
          </a:prstGeom>
          <a:solidFill>
            <a:srgbClr val="1A3557"/>
          </a:solidFill>
          <a:ln w="12700">
            <a:solidFill>
              <a:srgbClr val="1A3557"/>
            </a:solidFill>
            <a:prstDash val="solid"/>
          </a:ln>
        </p:spPr>
      </p:sp>
      <p:sp>
        <p:nvSpPr>
          <p:cNvPr id="34" name="Text 32"/>
          <p:cNvSpPr/>
          <p:nvPr/>
        </p:nvSpPr>
        <p:spPr>
          <a:xfrm>
            <a:off x="347472" y="4832604"/>
            <a:ext cx="8503920" cy="128016"/>
          </a:xfrm>
          <a:prstGeom prst="rect">
            <a:avLst/>
          </a:prstGeom>
          <a:noFill/>
          <a:ln/>
        </p:spPr>
        <p:txBody>
          <a:bodyPr wrap="square" lIns="0" tIns="0" rIns="0" bIns="0" rtlCol="0" anchor="ctr"/>
          <a:lstStyle/>
          <a:p>
            <a:pPr algn="ctr" indent="0" marL="0">
              <a:buNone/>
            </a:pPr>
            <a:r>
              <a:rPr lang="en-US" sz="900" b="1" dirty="0">
                <a:solidFill>
                  <a:srgbClr val="FFFFFF"/>
                </a:solidFill>
              </a:rPr>
              <a:t>Thank you, Prof. K. Srinivas — I am open to any questions.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Underwater Image Enhancement — Enhanced Results</dc:title>
  <dc:subject>PptxGenJS Presentation</dc:subject>
  <dc:creator>B. Dhanish</dc:creator>
  <cp:lastModifiedBy>B. Dhanish</cp:lastModifiedBy>
  <cp:revision>1</cp:revision>
  <dcterms:created xsi:type="dcterms:W3CDTF">2026-04-25T21:15:59Z</dcterms:created>
  <dcterms:modified xsi:type="dcterms:W3CDTF">2026-04-25T21:15:59Z</dcterms:modified>
</cp:coreProperties>
</file>